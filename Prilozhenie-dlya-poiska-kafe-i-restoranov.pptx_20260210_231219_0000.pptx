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ato Bold" charset="1" panose="020F0502020204030203"/>
      <p:regular r:id="rId19"/>
    </p:embeddedFont>
    <p:embeddedFont>
      <p:font typeface="Lato" charset="1" panose="020F0502020204030203"/>
      <p:regular r:id="rId20"/>
    </p:embeddedFont>
    <p:embeddedFont>
      <p:font typeface="Lato Light" charset="1" panose="020F05020202040302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8" y="3425685"/>
            <a:ext cx="9445523" cy="40481"/>
            <a:chOff x="0" y="0"/>
            <a:chExt cx="12594031" cy="53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94082" cy="53975"/>
            </a:xfrm>
            <a:custGeom>
              <a:avLst/>
              <a:gdLst/>
              <a:ahLst/>
              <a:cxnLst/>
              <a:rect r="r" b="b" t="t" l="l"/>
              <a:pathLst>
                <a:path h="53975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53975"/>
                  </a:lnTo>
                  <a:lnTo>
                    <a:pt x="0" y="53975"/>
                  </a:lnTo>
                  <a:close/>
                </a:path>
              </a:pathLst>
            </a:custGeom>
            <a:solidFill>
              <a:srgbClr val="4A4A45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0238" y="3869045"/>
            <a:ext cx="9445523" cy="40481"/>
            <a:chOff x="0" y="0"/>
            <a:chExt cx="12594031" cy="53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82" cy="53975"/>
            </a:xfrm>
            <a:custGeom>
              <a:avLst/>
              <a:gdLst/>
              <a:ahLst/>
              <a:cxnLst/>
              <a:rect r="r" b="b" t="t" l="l"/>
              <a:pathLst>
                <a:path h="53975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53975"/>
                  </a:lnTo>
                  <a:lnTo>
                    <a:pt x="0" y="53975"/>
                  </a:lnTo>
                  <a:close/>
                </a:path>
              </a:pathLst>
            </a:custGeom>
            <a:solidFill>
              <a:srgbClr val="4A4A45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0238" y="4312406"/>
            <a:ext cx="9445523" cy="40481"/>
            <a:chOff x="0" y="0"/>
            <a:chExt cx="12594031" cy="539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94082" cy="53975"/>
            </a:xfrm>
            <a:custGeom>
              <a:avLst/>
              <a:gdLst/>
              <a:ahLst/>
              <a:cxnLst/>
              <a:rect r="r" b="b" t="t" l="l"/>
              <a:pathLst>
                <a:path h="53975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53975"/>
                  </a:lnTo>
                  <a:lnTo>
                    <a:pt x="0" y="53975"/>
                  </a:lnTo>
                  <a:close/>
                </a:path>
              </a:pathLst>
            </a:custGeom>
            <a:solidFill>
              <a:srgbClr val="4A4A45">
                <a:alpha val="24706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50238" y="4755766"/>
            <a:ext cx="9445523" cy="40481"/>
            <a:chOff x="0" y="0"/>
            <a:chExt cx="12594031" cy="539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94082" cy="53975"/>
            </a:xfrm>
            <a:custGeom>
              <a:avLst/>
              <a:gdLst/>
              <a:ahLst/>
              <a:cxnLst/>
              <a:rect r="r" b="b" t="t" l="l"/>
              <a:pathLst>
                <a:path h="53975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53975"/>
                  </a:lnTo>
                  <a:lnTo>
                    <a:pt x="0" y="53975"/>
                  </a:lnTo>
                  <a:close/>
                </a:path>
              </a:pathLst>
            </a:custGeom>
            <a:solidFill>
              <a:srgbClr val="4A4A45">
                <a:alpha val="24706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850238" y="5149158"/>
            <a:ext cx="9445523" cy="156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Приложение для поиска кафе и ресторанов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50238" y="7014267"/>
            <a:ext cx="9445523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Современное мобильное решение для быстрого и удобного поиска заведений общественного питания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68566"/>
            <a:ext cx="1741732" cy="466430"/>
            <a:chOff x="0" y="0"/>
            <a:chExt cx="2322309" cy="6219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22322" cy="621919"/>
            </a:xfrm>
            <a:custGeom>
              <a:avLst/>
              <a:gdLst/>
              <a:ahLst/>
              <a:cxnLst/>
              <a:rect r="r" b="b" t="t" l="l"/>
              <a:pathLst>
                <a:path h="621919" w="232232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2282571" y="0"/>
                  </a:lnTo>
                  <a:cubicBezTo>
                    <a:pt x="2304542" y="0"/>
                    <a:pt x="2322322" y="17780"/>
                    <a:pt x="2322322" y="39751"/>
                  </a:cubicBezTo>
                  <a:lnTo>
                    <a:pt x="2322322" y="582168"/>
                  </a:lnTo>
                  <a:cubicBezTo>
                    <a:pt x="2322322" y="604139"/>
                    <a:pt x="2304542" y="621919"/>
                    <a:pt x="2282571" y="621919"/>
                  </a:cubicBezTo>
                  <a:lnTo>
                    <a:pt x="39751" y="621919"/>
                  </a:lnTo>
                  <a:cubicBezTo>
                    <a:pt x="17780" y="621919"/>
                    <a:pt x="0" y="604139"/>
                    <a:pt x="0" y="582168"/>
                  </a:cubicBezTo>
                  <a:close/>
                </a:path>
              </a:pathLst>
            </a:custGeom>
            <a:solidFill>
              <a:srgbClr val="E7E7E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066" y="885825"/>
            <a:ext cx="1444076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ЦЕЛЬ ПРОЕКТА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415053"/>
            <a:ext cx="6202261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Цель работы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728322"/>
            <a:ext cx="9540030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Целью данной работы является разработка комплексного приложения для поиска кафе и ресторанов, которое позволяет пользователям быстро находить заведения общественного питания по различным критериям и выбирать наиболее подходящий вариант для посещения.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539253"/>
            <a:ext cx="9540030" cy="206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Приложение решает проблему информационного поиска в современном городе, где количество заведений постоянно растёт, а качество информации о них часто разрознено и не систематизировано. Пользователи получают единую платформу для принятия обоснованных решений о выборе места для обеда, ужина или встречи с друзьями.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848027"/>
            <a:ext cx="4002881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Ключевые возможности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407478"/>
            <a:ext cx="9540030" cy="1663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Поиск по местоположению, типу кухни и ценовой категории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Детальная информация о каждом заведении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Система рейтингов и отзывов</a:t>
            </a:r>
          </a:p>
          <a:p>
            <a:pPr algn="l" marL="292199" indent="-146100" lvl="1">
              <a:lnSpc>
                <a:spcPts val="3125"/>
              </a:lnSpc>
              <a:buFont typeface="Arial"/>
              <a:buChar char="•"/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Персонализация через избранное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968333" y="2581275"/>
            <a:ext cx="6515395" cy="6837159"/>
            <a:chOff x="0" y="0"/>
            <a:chExt cx="8687194" cy="91162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7308" cy="9116314"/>
            </a:xfrm>
            <a:custGeom>
              <a:avLst/>
              <a:gdLst/>
              <a:ahLst/>
              <a:cxnLst/>
              <a:rect r="r" b="b" t="t" l="l"/>
              <a:pathLst>
                <a:path h="9116314" w="868730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8637651" y="0"/>
                  </a:lnTo>
                  <a:cubicBezTo>
                    <a:pt x="8665083" y="0"/>
                    <a:pt x="8687308" y="22225"/>
                    <a:pt x="8687308" y="49657"/>
                  </a:cubicBezTo>
                  <a:lnTo>
                    <a:pt x="8687308" y="9066657"/>
                  </a:lnTo>
                  <a:cubicBezTo>
                    <a:pt x="8687308" y="9094089"/>
                    <a:pt x="8665083" y="9116314"/>
                    <a:pt x="8637651" y="9116314"/>
                  </a:cubicBezTo>
                  <a:lnTo>
                    <a:pt x="49657" y="9116314"/>
                  </a:lnTo>
                  <a:cubicBezTo>
                    <a:pt x="22225" y="9116314"/>
                    <a:pt x="0" y="9094089"/>
                    <a:pt x="0" y="906665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216278" y="2829220"/>
            <a:ext cx="5197078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Проблемы, которые мы решаем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16278" y="3388671"/>
            <a:ext cx="601950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Сложность выбора из множества вариантов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16278" y="4008834"/>
            <a:ext cx="6019505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Недостаток актуальной информации о заведениях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16278" y="5025923"/>
            <a:ext cx="6019505" cy="4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Отсутствие удобного инструмента сравнения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16278" y="5646096"/>
            <a:ext cx="6019505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Необходимость использования нескольких источников информации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5838" y="653948"/>
            <a:ext cx="6347222" cy="79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Целевая аудитория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5838" y="1875977"/>
            <a:ext cx="16316325" cy="85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Приложение разработано с учётом потребностей различных групп пользователей, объединённых общей задачей — быстро и эффективно найти подходящее заведение общественного питания в городе.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5838" y="3004242"/>
            <a:ext cx="2232717" cy="2232717"/>
            <a:chOff x="0" y="0"/>
            <a:chExt cx="2976956" cy="297695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977007" cy="2977007"/>
            </a:xfrm>
            <a:custGeom>
              <a:avLst/>
              <a:gdLst/>
              <a:ahLst/>
              <a:cxnLst/>
              <a:rect r="r" b="b" t="t" l="l"/>
              <a:pathLst>
                <a:path h="2977007" w="2977007">
                  <a:moveTo>
                    <a:pt x="0" y="0"/>
                  </a:moveTo>
                  <a:lnTo>
                    <a:pt x="2977007" y="0"/>
                  </a:lnTo>
                  <a:lnTo>
                    <a:pt x="2977007" y="2977007"/>
                  </a:lnTo>
                  <a:lnTo>
                    <a:pt x="0" y="2977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85838" y="5523909"/>
            <a:ext cx="3081185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Жители города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5838" y="6008189"/>
            <a:ext cx="3849586" cy="321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Постоянные жители, ищущие новые места для посещения или проверенные заведения для повседневных обедов и встреч. Они ценят актуальность информации, удобство поиска и возможность сохранять любимые места.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41414" y="3004242"/>
            <a:ext cx="2232717" cy="2232717"/>
            <a:chOff x="0" y="0"/>
            <a:chExt cx="2976956" cy="297695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977007" cy="2977007"/>
            </a:xfrm>
            <a:custGeom>
              <a:avLst/>
              <a:gdLst/>
              <a:ahLst/>
              <a:cxnLst/>
              <a:rect r="r" b="b" t="t" l="l"/>
              <a:pathLst>
                <a:path h="2977007" w="2977007">
                  <a:moveTo>
                    <a:pt x="0" y="0"/>
                  </a:moveTo>
                  <a:lnTo>
                    <a:pt x="2977007" y="0"/>
                  </a:lnTo>
                  <a:lnTo>
                    <a:pt x="2977007" y="2977007"/>
                  </a:lnTo>
                  <a:lnTo>
                    <a:pt x="0" y="2977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41414" y="5523909"/>
            <a:ext cx="3081185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Туристы и гости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41414" y="6008189"/>
            <a:ext cx="3849586" cy="321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Приезжие, которым необходима быстрая ориентация в незнакомом городе. Для них критически важны геолокация, отображение на карте и надёжные отзывы других посетителей.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96991" y="3004242"/>
            <a:ext cx="2232717" cy="2232717"/>
            <a:chOff x="0" y="0"/>
            <a:chExt cx="2976956" cy="297695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977007" cy="2977007"/>
            </a:xfrm>
            <a:custGeom>
              <a:avLst/>
              <a:gdLst/>
              <a:ahLst/>
              <a:cxnLst/>
              <a:rect r="r" b="b" t="t" l="l"/>
              <a:pathLst>
                <a:path h="2977007" w="2977007">
                  <a:moveTo>
                    <a:pt x="0" y="0"/>
                  </a:moveTo>
                  <a:lnTo>
                    <a:pt x="2977007" y="0"/>
                  </a:lnTo>
                  <a:lnTo>
                    <a:pt x="2977007" y="2977007"/>
                  </a:lnTo>
                  <a:lnTo>
                    <a:pt x="0" y="2977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296991" y="5523909"/>
            <a:ext cx="3849586" cy="7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Студенты и работающие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6991" y="6393209"/>
            <a:ext cx="3849586" cy="281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Активная аудитория, подбирающая места для деловых обедов, встреч с коллегами или учебных перерывов. Важны фильтры по цене, быстрому обслуживанию и близости к работе или учёбе.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52577" y="3004242"/>
            <a:ext cx="2232717" cy="2232717"/>
            <a:chOff x="0" y="0"/>
            <a:chExt cx="2976956" cy="2976956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977007" cy="2977007"/>
            </a:xfrm>
            <a:custGeom>
              <a:avLst/>
              <a:gdLst/>
              <a:ahLst/>
              <a:cxnLst/>
              <a:rect r="r" b="b" t="t" l="l"/>
              <a:pathLst>
                <a:path h="2977007" w="2977007">
                  <a:moveTo>
                    <a:pt x="0" y="0"/>
                  </a:moveTo>
                  <a:lnTo>
                    <a:pt x="2977007" y="0"/>
                  </a:lnTo>
                  <a:lnTo>
                    <a:pt x="2977007" y="2977007"/>
                  </a:lnTo>
                  <a:lnTo>
                    <a:pt x="0" y="2977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452577" y="5523909"/>
            <a:ext cx="3849586" cy="7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Мобильные пользователи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52577" y="6393209"/>
            <a:ext cx="3849586" cy="321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Все пользователи объединены использованием мобильных устройств и ожиданием мгновенного доступа к информации. Приложение оптимизировано для смартфонов с интуитивным интерфейсом.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47900" y="1397498"/>
            <a:ext cx="1230659" cy="324002"/>
            <a:chOff x="0" y="0"/>
            <a:chExt cx="1640878" cy="4320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0840" cy="431927"/>
            </a:xfrm>
            <a:custGeom>
              <a:avLst/>
              <a:gdLst/>
              <a:ahLst/>
              <a:cxnLst/>
              <a:rect r="r" b="b" t="t" l="l"/>
              <a:pathLst>
                <a:path h="431927" w="1640840">
                  <a:moveTo>
                    <a:pt x="0" y="34290"/>
                  </a:moveTo>
                  <a:cubicBezTo>
                    <a:pt x="0" y="15240"/>
                    <a:pt x="15748" y="0"/>
                    <a:pt x="34925" y="0"/>
                  </a:cubicBezTo>
                  <a:lnTo>
                    <a:pt x="1605915" y="0"/>
                  </a:lnTo>
                  <a:lnTo>
                    <a:pt x="1605915" y="6350"/>
                  </a:lnTo>
                  <a:lnTo>
                    <a:pt x="1605915" y="0"/>
                  </a:lnTo>
                  <a:cubicBezTo>
                    <a:pt x="1625092" y="0"/>
                    <a:pt x="1640840" y="15240"/>
                    <a:pt x="1640840" y="34290"/>
                  </a:cubicBezTo>
                  <a:lnTo>
                    <a:pt x="1634490" y="34290"/>
                  </a:lnTo>
                  <a:lnTo>
                    <a:pt x="1640840" y="34290"/>
                  </a:lnTo>
                  <a:lnTo>
                    <a:pt x="1640840" y="397637"/>
                  </a:lnTo>
                  <a:lnTo>
                    <a:pt x="1634490" y="397637"/>
                  </a:lnTo>
                  <a:lnTo>
                    <a:pt x="1640840" y="397637"/>
                  </a:lnTo>
                  <a:cubicBezTo>
                    <a:pt x="1640840" y="416687"/>
                    <a:pt x="1625092" y="431927"/>
                    <a:pt x="1605915" y="431927"/>
                  </a:cubicBezTo>
                  <a:lnTo>
                    <a:pt x="1605915" y="425577"/>
                  </a:lnTo>
                  <a:lnTo>
                    <a:pt x="1605915" y="431927"/>
                  </a:lnTo>
                  <a:lnTo>
                    <a:pt x="34925" y="431927"/>
                  </a:lnTo>
                  <a:lnTo>
                    <a:pt x="34925" y="425577"/>
                  </a:lnTo>
                  <a:lnTo>
                    <a:pt x="34925" y="431927"/>
                  </a:lnTo>
                  <a:cubicBezTo>
                    <a:pt x="15748" y="431927"/>
                    <a:pt x="0" y="416687"/>
                    <a:pt x="0" y="397637"/>
                  </a:cubicBezTo>
                  <a:lnTo>
                    <a:pt x="0" y="34290"/>
                  </a:lnTo>
                  <a:lnTo>
                    <a:pt x="6350" y="34290"/>
                  </a:lnTo>
                  <a:lnTo>
                    <a:pt x="0" y="34290"/>
                  </a:lnTo>
                  <a:moveTo>
                    <a:pt x="12700" y="34290"/>
                  </a:moveTo>
                  <a:lnTo>
                    <a:pt x="12700" y="397637"/>
                  </a:lnTo>
                  <a:lnTo>
                    <a:pt x="6350" y="397637"/>
                  </a:lnTo>
                  <a:lnTo>
                    <a:pt x="12700" y="397637"/>
                  </a:lnTo>
                  <a:cubicBezTo>
                    <a:pt x="12700" y="409448"/>
                    <a:pt x="22479" y="419227"/>
                    <a:pt x="34925" y="419227"/>
                  </a:cubicBezTo>
                  <a:lnTo>
                    <a:pt x="1605915" y="419227"/>
                  </a:lnTo>
                  <a:cubicBezTo>
                    <a:pt x="1618361" y="419227"/>
                    <a:pt x="1628140" y="409448"/>
                    <a:pt x="1628140" y="397637"/>
                  </a:cubicBezTo>
                  <a:lnTo>
                    <a:pt x="1628140" y="34290"/>
                  </a:lnTo>
                  <a:cubicBezTo>
                    <a:pt x="1628140" y="22479"/>
                    <a:pt x="1618361" y="12700"/>
                    <a:pt x="1605915" y="12700"/>
                  </a:cubicBezTo>
                  <a:lnTo>
                    <a:pt x="34925" y="12700"/>
                  </a:lnTo>
                  <a:lnTo>
                    <a:pt x="34925" y="6350"/>
                  </a:lnTo>
                  <a:lnTo>
                    <a:pt x="34925" y="12700"/>
                  </a:lnTo>
                  <a:cubicBezTo>
                    <a:pt x="22479" y="12700"/>
                    <a:pt x="12700" y="22479"/>
                    <a:pt x="12700" y="3429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66962" y="1435598"/>
            <a:ext cx="992534" cy="21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062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ФУНКЦИОНАЛ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2662" y="1746799"/>
            <a:ext cx="6894757" cy="56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43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Функциональные требования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52662" y="2468166"/>
            <a:ext cx="137826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Приложение предоставляет полный спектр функций для удобного поиска, выбора и управления информацией о заведениях общественного питания. Каждая функция спроектирована с учётом реальных потребностей пользователей и современных стандартов мобильных приложений.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252662" y="3111398"/>
            <a:ext cx="4512173" cy="2730398"/>
            <a:chOff x="0" y="0"/>
            <a:chExt cx="6016231" cy="36405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16244" cy="3640455"/>
            </a:xfrm>
            <a:custGeom>
              <a:avLst/>
              <a:gdLst/>
              <a:ahLst/>
              <a:cxnLst/>
              <a:rect r="r" b="b" t="t" l="l"/>
              <a:pathLst>
                <a:path h="3640455" w="6016244">
                  <a:moveTo>
                    <a:pt x="0" y="34925"/>
                  </a:moveTo>
                  <a:cubicBezTo>
                    <a:pt x="0" y="15621"/>
                    <a:pt x="15621" y="0"/>
                    <a:pt x="34925" y="0"/>
                  </a:cubicBezTo>
                  <a:lnTo>
                    <a:pt x="5981319" y="0"/>
                  </a:lnTo>
                  <a:cubicBezTo>
                    <a:pt x="6000623" y="0"/>
                    <a:pt x="6016244" y="15621"/>
                    <a:pt x="6016244" y="34925"/>
                  </a:cubicBezTo>
                  <a:lnTo>
                    <a:pt x="6016244" y="3605530"/>
                  </a:lnTo>
                  <a:cubicBezTo>
                    <a:pt x="6016244" y="3624834"/>
                    <a:pt x="6000623" y="3640455"/>
                    <a:pt x="5981319" y="3640455"/>
                  </a:cubicBezTo>
                  <a:lnTo>
                    <a:pt x="34925" y="3640455"/>
                  </a:lnTo>
                  <a:cubicBezTo>
                    <a:pt x="15621" y="3640455"/>
                    <a:pt x="0" y="3624834"/>
                    <a:pt x="0" y="360553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27389" y="3267075"/>
            <a:ext cx="2381698" cy="29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Поиск и фильтрация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27389" y="3604470"/>
            <a:ext cx="4162720" cy="145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Поиск по названию заведения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Поиск по местоположению и радиусу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Фильтр по типу кухни (итальянская, японская, русская и др.)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Фильтр по ценовой категории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Сортировка по рейтингу и популярности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87918" y="3111398"/>
            <a:ext cx="4512173" cy="2730398"/>
            <a:chOff x="0" y="0"/>
            <a:chExt cx="6016231" cy="36405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16244" cy="3640455"/>
            </a:xfrm>
            <a:custGeom>
              <a:avLst/>
              <a:gdLst/>
              <a:ahLst/>
              <a:cxnLst/>
              <a:rect r="r" b="b" t="t" l="l"/>
              <a:pathLst>
                <a:path h="3640455" w="6016244">
                  <a:moveTo>
                    <a:pt x="0" y="34925"/>
                  </a:moveTo>
                  <a:cubicBezTo>
                    <a:pt x="0" y="15621"/>
                    <a:pt x="15621" y="0"/>
                    <a:pt x="34925" y="0"/>
                  </a:cubicBezTo>
                  <a:lnTo>
                    <a:pt x="5981319" y="0"/>
                  </a:lnTo>
                  <a:cubicBezTo>
                    <a:pt x="6000623" y="0"/>
                    <a:pt x="6016244" y="15621"/>
                    <a:pt x="6016244" y="34925"/>
                  </a:cubicBezTo>
                  <a:lnTo>
                    <a:pt x="6016244" y="3605530"/>
                  </a:lnTo>
                  <a:cubicBezTo>
                    <a:pt x="6016244" y="3624834"/>
                    <a:pt x="6000623" y="3640455"/>
                    <a:pt x="5981319" y="3640455"/>
                  </a:cubicBezTo>
                  <a:lnTo>
                    <a:pt x="34925" y="3640455"/>
                  </a:lnTo>
                  <a:cubicBezTo>
                    <a:pt x="15621" y="3640455"/>
                    <a:pt x="0" y="3624834"/>
                    <a:pt x="0" y="360553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062635" y="3267075"/>
            <a:ext cx="2184644" cy="29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Карта и навигация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62635" y="3604470"/>
            <a:ext cx="4162720" cy="193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Отображение заведений на интерактивной карте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Определение текущего местоположения пользователя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Построение маршрута до выбранного заведения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Кластеризация меток при большом количестве заведений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523164" y="3111398"/>
            <a:ext cx="4512173" cy="2730398"/>
            <a:chOff x="0" y="0"/>
            <a:chExt cx="6016231" cy="36405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16244" cy="3640455"/>
            </a:xfrm>
            <a:custGeom>
              <a:avLst/>
              <a:gdLst/>
              <a:ahLst/>
              <a:cxnLst/>
              <a:rect r="r" b="b" t="t" l="l"/>
              <a:pathLst>
                <a:path h="3640455" w="6016244">
                  <a:moveTo>
                    <a:pt x="0" y="34925"/>
                  </a:moveTo>
                  <a:cubicBezTo>
                    <a:pt x="0" y="15621"/>
                    <a:pt x="15621" y="0"/>
                    <a:pt x="34925" y="0"/>
                  </a:cubicBezTo>
                  <a:lnTo>
                    <a:pt x="5981319" y="0"/>
                  </a:lnTo>
                  <a:cubicBezTo>
                    <a:pt x="6000623" y="0"/>
                    <a:pt x="6016244" y="15621"/>
                    <a:pt x="6016244" y="34925"/>
                  </a:cubicBezTo>
                  <a:lnTo>
                    <a:pt x="6016244" y="3605530"/>
                  </a:lnTo>
                  <a:cubicBezTo>
                    <a:pt x="6016244" y="3624834"/>
                    <a:pt x="6000623" y="3640455"/>
                    <a:pt x="5981319" y="3640455"/>
                  </a:cubicBezTo>
                  <a:lnTo>
                    <a:pt x="34925" y="3640455"/>
                  </a:lnTo>
                  <a:cubicBezTo>
                    <a:pt x="15621" y="3640455"/>
                    <a:pt x="0" y="3624834"/>
                    <a:pt x="0" y="360553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697891" y="3267075"/>
            <a:ext cx="3098749" cy="29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Информация о заведениях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97891" y="3604470"/>
            <a:ext cx="4162720" cy="1220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Подробное описание и фотографии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Адрес и контактные данные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Время работы и график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Меню и прайс-лист</a:t>
            </a:r>
          </a:p>
          <a:p>
            <a:pPr algn="l" marL="207367" indent="-103684" lvl="1">
              <a:lnSpc>
                <a:spcPts val="1875"/>
              </a:lnSpc>
              <a:buFont typeface="Arial"/>
              <a:buChar char="•"/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Средний чек и способы оплаты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243138" y="5501507"/>
            <a:ext cx="4531223" cy="1944138"/>
            <a:chOff x="0" y="0"/>
            <a:chExt cx="6041631" cy="2592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6016244" cy="2566670"/>
            </a:xfrm>
            <a:custGeom>
              <a:avLst/>
              <a:gdLst/>
              <a:ahLst/>
              <a:cxnLst/>
              <a:rect r="r" b="b" t="t" l="l"/>
              <a:pathLst>
                <a:path h="2566670" w="6016244">
                  <a:moveTo>
                    <a:pt x="0" y="34925"/>
                  </a:moveTo>
                  <a:cubicBezTo>
                    <a:pt x="0" y="15621"/>
                    <a:pt x="15748" y="0"/>
                    <a:pt x="35179" y="0"/>
                  </a:cubicBezTo>
                  <a:lnTo>
                    <a:pt x="5981065" y="0"/>
                  </a:lnTo>
                  <a:cubicBezTo>
                    <a:pt x="6000496" y="0"/>
                    <a:pt x="6016244" y="15621"/>
                    <a:pt x="6016244" y="34925"/>
                  </a:cubicBezTo>
                  <a:lnTo>
                    <a:pt x="6016244" y="2531745"/>
                  </a:lnTo>
                  <a:cubicBezTo>
                    <a:pt x="6016244" y="2551049"/>
                    <a:pt x="6000496" y="2566670"/>
                    <a:pt x="5981065" y="2566670"/>
                  </a:cubicBezTo>
                  <a:lnTo>
                    <a:pt x="35179" y="2566670"/>
                  </a:lnTo>
                  <a:cubicBezTo>
                    <a:pt x="15748" y="2566670"/>
                    <a:pt x="0" y="2551049"/>
                    <a:pt x="0" y="2531745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41644" cy="2592070"/>
            </a:xfrm>
            <a:custGeom>
              <a:avLst/>
              <a:gdLst/>
              <a:ahLst/>
              <a:cxnLst/>
              <a:rect r="r" b="b" t="t" l="l"/>
              <a:pathLst>
                <a:path h="2592070" w="6041644">
                  <a:moveTo>
                    <a:pt x="0" y="47625"/>
                  </a:moveTo>
                  <a:cubicBezTo>
                    <a:pt x="0" y="21209"/>
                    <a:pt x="21463" y="0"/>
                    <a:pt x="47879" y="0"/>
                  </a:cubicBezTo>
                  <a:lnTo>
                    <a:pt x="5993765" y="0"/>
                  </a:lnTo>
                  <a:lnTo>
                    <a:pt x="5993765" y="12700"/>
                  </a:lnTo>
                  <a:lnTo>
                    <a:pt x="5993765" y="0"/>
                  </a:lnTo>
                  <a:cubicBezTo>
                    <a:pt x="6020181" y="0"/>
                    <a:pt x="6041644" y="21209"/>
                    <a:pt x="6041644" y="47625"/>
                  </a:cubicBezTo>
                  <a:lnTo>
                    <a:pt x="6028944" y="47625"/>
                  </a:lnTo>
                  <a:lnTo>
                    <a:pt x="6041644" y="47625"/>
                  </a:lnTo>
                  <a:lnTo>
                    <a:pt x="6041644" y="2544445"/>
                  </a:lnTo>
                  <a:lnTo>
                    <a:pt x="6028944" y="2544445"/>
                  </a:lnTo>
                  <a:lnTo>
                    <a:pt x="6041644" y="2544445"/>
                  </a:lnTo>
                  <a:cubicBezTo>
                    <a:pt x="6041644" y="2570861"/>
                    <a:pt x="6020181" y="2592070"/>
                    <a:pt x="5993765" y="2592070"/>
                  </a:cubicBezTo>
                  <a:lnTo>
                    <a:pt x="5993765" y="2579370"/>
                  </a:lnTo>
                  <a:lnTo>
                    <a:pt x="5993765" y="2592070"/>
                  </a:lnTo>
                  <a:lnTo>
                    <a:pt x="47879" y="2592070"/>
                  </a:lnTo>
                  <a:lnTo>
                    <a:pt x="47879" y="2579370"/>
                  </a:lnTo>
                  <a:lnTo>
                    <a:pt x="47879" y="2592070"/>
                  </a:lnTo>
                  <a:cubicBezTo>
                    <a:pt x="21463" y="2592070"/>
                    <a:pt x="0" y="2570861"/>
                    <a:pt x="0" y="2544445"/>
                  </a:cubicBezTo>
                  <a:lnTo>
                    <a:pt x="0" y="47625"/>
                  </a:lnTo>
                  <a:lnTo>
                    <a:pt x="12700" y="47625"/>
                  </a:lnTo>
                  <a:lnTo>
                    <a:pt x="0" y="47625"/>
                  </a:lnTo>
                  <a:moveTo>
                    <a:pt x="25400" y="47625"/>
                  </a:moveTo>
                  <a:lnTo>
                    <a:pt x="25400" y="2544445"/>
                  </a:lnTo>
                  <a:lnTo>
                    <a:pt x="12700" y="2544445"/>
                  </a:lnTo>
                  <a:lnTo>
                    <a:pt x="25400" y="2544445"/>
                  </a:lnTo>
                  <a:cubicBezTo>
                    <a:pt x="25400" y="2556637"/>
                    <a:pt x="35433" y="2566670"/>
                    <a:pt x="47879" y="2566670"/>
                  </a:cubicBezTo>
                  <a:lnTo>
                    <a:pt x="5993765" y="2566670"/>
                  </a:lnTo>
                  <a:cubicBezTo>
                    <a:pt x="6006211" y="2566670"/>
                    <a:pt x="6016244" y="2556637"/>
                    <a:pt x="6016244" y="2544445"/>
                  </a:cubicBezTo>
                  <a:lnTo>
                    <a:pt x="6016244" y="47625"/>
                  </a:lnTo>
                  <a:cubicBezTo>
                    <a:pt x="6016244" y="35433"/>
                    <a:pt x="6006211" y="25400"/>
                    <a:pt x="5993765" y="25400"/>
                  </a:cubicBezTo>
                  <a:lnTo>
                    <a:pt x="47879" y="25400"/>
                  </a:lnTo>
                  <a:lnTo>
                    <a:pt x="47879" y="12700"/>
                  </a:lnTo>
                  <a:lnTo>
                    <a:pt x="47879" y="25400"/>
                  </a:lnTo>
                  <a:cubicBezTo>
                    <a:pt x="35433" y="25400"/>
                    <a:pt x="25400" y="35433"/>
                    <a:pt x="25400" y="4762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446439" y="5685758"/>
            <a:ext cx="2274541" cy="29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Отзывы и рейтинги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46439" y="6023153"/>
            <a:ext cx="412462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Просмотр отзывов других пользователей с оценками по различным критериям (кухня, обслуживание, атмосфера, цены). Возможность оставлять собственные отзывы и оценки после посещения.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878393" y="5501507"/>
            <a:ext cx="4531223" cy="1944138"/>
            <a:chOff x="0" y="0"/>
            <a:chExt cx="6041631" cy="25921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6016244" cy="2566670"/>
            </a:xfrm>
            <a:custGeom>
              <a:avLst/>
              <a:gdLst/>
              <a:ahLst/>
              <a:cxnLst/>
              <a:rect r="r" b="b" t="t" l="l"/>
              <a:pathLst>
                <a:path h="2566670" w="6016244">
                  <a:moveTo>
                    <a:pt x="0" y="34925"/>
                  </a:moveTo>
                  <a:cubicBezTo>
                    <a:pt x="0" y="15621"/>
                    <a:pt x="15748" y="0"/>
                    <a:pt x="35179" y="0"/>
                  </a:cubicBezTo>
                  <a:lnTo>
                    <a:pt x="5981065" y="0"/>
                  </a:lnTo>
                  <a:cubicBezTo>
                    <a:pt x="6000496" y="0"/>
                    <a:pt x="6016244" y="15621"/>
                    <a:pt x="6016244" y="34925"/>
                  </a:cubicBezTo>
                  <a:lnTo>
                    <a:pt x="6016244" y="2531745"/>
                  </a:lnTo>
                  <a:cubicBezTo>
                    <a:pt x="6016244" y="2551049"/>
                    <a:pt x="6000496" y="2566670"/>
                    <a:pt x="5981065" y="2566670"/>
                  </a:cubicBezTo>
                  <a:lnTo>
                    <a:pt x="35179" y="2566670"/>
                  </a:lnTo>
                  <a:cubicBezTo>
                    <a:pt x="15748" y="2566670"/>
                    <a:pt x="0" y="2551049"/>
                    <a:pt x="0" y="2531745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41644" cy="2592070"/>
            </a:xfrm>
            <a:custGeom>
              <a:avLst/>
              <a:gdLst/>
              <a:ahLst/>
              <a:cxnLst/>
              <a:rect r="r" b="b" t="t" l="l"/>
              <a:pathLst>
                <a:path h="2592070" w="6041644">
                  <a:moveTo>
                    <a:pt x="0" y="47625"/>
                  </a:moveTo>
                  <a:cubicBezTo>
                    <a:pt x="0" y="21209"/>
                    <a:pt x="21463" y="0"/>
                    <a:pt x="47879" y="0"/>
                  </a:cubicBezTo>
                  <a:lnTo>
                    <a:pt x="5993765" y="0"/>
                  </a:lnTo>
                  <a:lnTo>
                    <a:pt x="5993765" y="12700"/>
                  </a:lnTo>
                  <a:lnTo>
                    <a:pt x="5993765" y="0"/>
                  </a:lnTo>
                  <a:cubicBezTo>
                    <a:pt x="6020181" y="0"/>
                    <a:pt x="6041644" y="21209"/>
                    <a:pt x="6041644" y="47625"/>
                  </a:cubicBezTo>
                  <a:lnTo>
                    <a:pt x="6028944" y="47625"/>
                  </a:lnTo>
                  <a:lnTo>
                    <a:pt x="6041644" y="47625"/>
                  </a:lnTo>
                  <a:lnTo>
                    <a:pt x="6041644" y="2544445"/>
                  </a:lnTo>
                  <a:lnTo>
                    <a:pt x="6028944" y="2544445"/>
                  </a:lnTo>
                  <a:lnTo>
                    <a:pt x="6041644" y="2544445"/>
                  </a:lnTo>
                  <a:cubicBezTo>
                    <a:pt x="6041644" y="2570861"/>
                    <a:pt x="6020181" y="2592070"/>
                    <a:pt x="5993765" y="2592070"/>
                  </a:cubicBezTo>
                  <a:lnTo>
                    <a:pt x="5993765" y="2579370"/>
                  </a:lnTo>
                  <a:lnTo>
                    <a:pt x="5993765" y="2592070"/>
                  </a:lnTo>
                  <a:lnTo>
                    <a:pt x="47879" y="2592070"/>
                  </a:lnTo>
                  <a:lnTo>
                    <a:pt x="47879" y="2579370"/>
                  </a:lnTo>
                  <a:lnTo>
                    <a:pt x="47879" y="2592070"/>
                  </a:lnTo>
                  <a:cubicBezTo>
                    <a:pt x="21463" y="2592070"/>
                    <a:pt x="0" y="2570861"/>
                    <a:pt x="0" y="2544445"/>
                  </a:cubicBezTo>
                  <a:lnTo>
                    <a:pt x="0" y="47625"/>
                  </a:lnTo>
                  <a:lnTo>
                    <a:pt x="12700" y="47625"/>
                  </a:lnTo>
                  <a:lnTo>
                    <a:pt x="0" y="47625"/>
                  </a:lnTo>
                  <a:moveTo>
                    <a:pt x="25400" y="47625"/>
                  </a:moveTo>
                  <a:lnTo>
                    <a:pt x="25400" y="2544445"/>
                  </a:lnTo>
                  <a:lnTo>
                    <a:pt x="12700" y="2544445"/>
                  </a:lnTo>
                  <a:lnTo>
                    <a:pt x="25400" y="2544445"/>
                  </a:lnTo>
                  <a:cubicBezTo>
                    <a:pt x="25400" y="2556637"/>
                    <a:pt x="35433" y="2566670"/>
                    <a:pt x="47879" y="2566670"/>
                  </a:cubicBezTo>
                  <a:lnTo>
                    <a:pt x="5993765" y="2566670"/>
                  </a:lnTo>
                  <a:cubicBezTo>
                    <a:pt x="6006211" y="2566670"/>
                    <a:pt x="6016244" y="2556637"/>
                    <a:pt x="6016244" y="2544445"/>
                  </a:cubicBezTo>
                  <a:lnTo>
                    <a:pt x="6016244" y="47625"/>
                  </a:lnTo>
                  <a:cubicBezTo>
                    <a:pt x="6016244" y="35433"/>
                    <a:pt x="6006211" y="25400"/>
                    <a:pt x="5993765" y="25400"/>
                  </a:cubicBezTo>
                  <a:lnTo>
                    <a:pt x="47879" y="25400"/>
                  </a:lnTo>
                  <a:lnTo>
                    <a:pt x="47879" y="12700"/>
                  </a:lnTo>
                  <a:lnTo>
                    <a:pt x="47879" y="25400"/>
                  </a:lnTo>
                  <a:cubicBezTo>
                    <a:pt x="35433" y="25400"/>
                    <a:pt x="25400" y="35433"/>
                    <a:pt x="25400" y="4762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081685" y="5685758"/>
            <a:ext cx="2184644" cy="29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Персонализация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81685" y="6023153"/>
            <a:ext cx="412462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Добавление понравившихся заведений в избранное для быстрого доступа. Формирование персональных подборок и списков желаемых к посещению мест.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513639" y="5501507"/>
            <a:ext cx="4531223" cy="1944138"/>
            <a:chOff x="0" y="0"/>
            <a:chExt cx="6041631" cy="25921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6016244" cy="2566670"/>
            </a:xfrm>
            <a:custGeom>
              <a:avLst/>
              <a:gdLst/>
              <a:ahLst/>
              <a:cxnLst/>
              <a:rect r="r" b="b" t="t" l="l"/>
              <a:pathLst>
                <a:path h="2566670" w="6016244">
                  <a:moveTo>
                    <a:pt x="0" y="34925"/>
                  </a:moveTo>
                  <a:cubicBezTo>
                    <a:pt x="0" y="15621"/>
                    <a:pt x="15748" y="0"/>
                    <a:pt x="35179" y="0"/>
                  </a:cubicBezTo>
                  <a:lnTo>
                    <a:pt x="5981065" y="0"/>
                  </a:lnTo>
                  <a:cubicBezTo>
                    <a:pt x="6000496" y="0"/>
                    <a:pt x="6016244" y="15621"/>
                    <a:pt x="6016244" y="34925"/>
                  </a:cubicBezTo>
                  <a:lnTo>
                    <a:pt x="6016244" y="2531745"/>
                  </a:lnTo>
                  <a:cubicBezTo>
                    <a:pt x="6016244" y="2551049"/>
                    <a:pt x="6000496" y="2566670"/>
                    <a:pt x="5981065" y="2566670"/>
                  </a:cubicBezTo>
                  <a:lnTo>
                    <a:pt x="35179" y="2566670"/>
                  </a:lnTo>
                  <a:cubicBezTo>
                    <a:pt x="15748" y="2566670"/>
                    <a:pt x="0" y="2551049"/>
                    <a:pt x="0" y="2531745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41644" cy="2592070"/>
            </a:xfrm>
            <a:custGeom>
              <a:avLst/>
              <a:gdLst/>
              <a:ahLst/>
              <a:cxnLst/>
              <a:rect r="r" b="b" t="t" l="l"/>
              <a:pathLst>
                <a:path h="2592070" w="6041644">
                  <a:moveTo>
                    <a:pt x="0" y="47625"/>
                  </a:moveTo>
                  <a:cubicBezTo>
                    <a:pt x="0" y="21209"/>
                    <a:pt x="21463" y="0"/>
                    <a:pt x="47879" y="0"/>
                  </a:cubicBezTo>
                  <a:lnTo>
                    <a:pt x="5993765" y="0"/>
                  </a:lnTo>
                  <a:lnTo>
                    <a:pt x="5993765" y="12700"/>
                  </a:lnTo>
                  <a:lnTo>
                    <a:pt x="5993765" y="0"/>
                  </a:lnTo>
                  <a:cubicBezTo>
                    <a:pt x="6020181" y="0"/>
                    <a:pt x="6041644" y="21209"/>
                    <a:pt x="6041644" y="47625"/>
                  </a:cubicBezTo>
                  <a:lnTo>
                    <a:pt x="6028944" y="47625"/>
                  </a:lnTo>
                  <a:lnTo>
                    <a:pt x="6041644" y="47625"/>
                  </a:lnTo>
                  <a:lnTo>
                    <a:pt x="6041644" y="2544445"/>
                  </a:lnTo>
                  <a:lnTo>
                    <a:pt x="6028944" y="2544445"/>
                  </a:lnTo>
                  <a:lnTo>
                    <a:pt x="6041644" y="2544445"/>
                  </a:lnTo>
                  <a:cubicBezTo>
                    <a:pt x="6041644" y="2570861"/>
                    <a:pt x="6020181" y="2592070"/>
                    <a:pt x="5993765" y="2592070"/>
                  </a:cubicBezTo>
                  <a:lnTo>
                    <a:pt x="5993765" y="2579370"/>
                  </a:lnTo>
                  <a:lnTo>
                    <a:pt x="5993765" y="2592070"/>
                  </a:lnTo>
                  <a:lnTo>
                    <a:pt x="47879" y="2592070"/>
                  </a:lnTo>
                  <a:lnTo>
                    <a:pt x="47879" y="2579370"/>
                  </a:lnTo>
                  <a:lnTo>
                    <a:pt x="47879" y="2592070"/>
                  </a:lnTo>
                  <a:cubicBezTo>
                    <a:pt x="21463" y="2592070"/>
                    <a:pt x="0" y="2570861"/>
                    <a:pt x="0" y="2544445"/>
                  </a:cubicBezTo>
                  <a:lnTo>
                    <a:pt x="0" y="47625"/>
                  </a:lnTo>
                  <a:lnTo>
                    <a:pt x="12700" y="47625"/>
                  </a:lnTo>
                  <a:lnTo>
                    <a:pt x="0" y="47625"/>
                  </a:lnTo>
                  <a:moveTo>
                    <a:pt x="25400" y="47625"/>
                  </a:moveTo>
                  <a:lnTo>
                    <a:pt x="25400" y="2544445"/>
                  </a:lnTo>
                  <a:lnTo>
                    <a:pt x="12700" y="2544445"/>
                  </a:lnTo>
                  <a:lnTo>
                    <a:pt x="25400" y="2544445"/>
                  </a:lnTo>
                  <a:cubicBezTo>
                    <a:pt x="25400" y="2556637"/>
                    <a:pt x="35433" y="2566670"/>
                    <a:pt x="47879" y="2566670"/>
                  </a:cubicBezTo>
                  <a:lnTo>
                    <a:pt x="5993765" y="2566670"/>
                  </a:lnTo>
                  <a:cubicBezTo>
                    <a:pt x="6006211" y="2566670"/>
                    <a:pt x="6016244" y="2556637"/>
                    <a:pt x="6016244" y="2544445"/>
                  </a:cubicBezTo>
                  <a:lnTo>
                    <a:pt x="6016244" y="47625"/>
                  </a:lnTo>
                  <a:cubicBezTo>
                    <a:pt x="6016244" y="35433"/>
                    <a:pt x="6006211" y="25400"/>
                    <a:pt x="5993765" y="25400"/>
                  </a:cubicBezTo>
                  <a:lnTo>
                    <a:pt x="47879" y="25400"/>
                  </a:lnTo>
                  <a:lnTo>
                    <a:pt x="47879" y="12700"/>
                  </a:lnTo>
                  <a:lnTo>
                    <a:pt x="47879" y="25400"/>
                  </a:lnTo>
                  <a:cubicBezTo>
                    <a:pt x="35433" y="25400"/>
                    <a:pt x="25400" y="35433"/>
                    <a:pt x="25400" y="4762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716941" y="5685758"/>
            <a:ext cx="2641997" cy="29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Управление профилем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716941" y="6023153"/>
            <a:ext cx="412462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Регистрация и авторизация пользователей с защитой персональных данных. Управление настройками аккаунта, историей поиска и сохранёнными предпочтениями.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252662" y="7574537"/>
            <a:ext cx="13782675" cy="841029"/>
            <a:chOff x="0" y="0"/>
            <a:chExt cx="18376900" cy="11213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376900" cy="1121284"/>
            </a:xfrm>
            <a:custGeom>
              <a:avLst/>
              <a:gdLst/>
              <a:ahLst/>
              <a:cxnLst/>
              <a:rect r="r" b="b" t="t" l="l"/>
              <a:pathLst>
                <a:path h="1121284" w="18376900">
                  <a:moveTo>
                    <a:pt x="0" y="34925"/>
                  </a:moveTo>
                  <a:cubicBezTo>
                    <a:pt x="0" y="15621"/>
                    <a:pt x="15621" y="0"/>
                    <a:pt x="34925" y="0"/>
                  </a:cubicBezTo>
                  <a:lnTo>
                    <a:pt x="18341975" y="0"/>
                  </a:lnTo>
                  <a:cubicBezTo>
                    <a:pt x="18361279" y="0"/>
                    <a:pt x="18376900" y="15621"/>
                    <a:pt x="18376900" y="34925"/>
                  </a:cubicBezTo>
                  <a:lnTo>
                    <a:pt x="18376900" y="1086358"/>
                  </a:lnTo>
                  <a:cubicBezTo>
                    <a:pt x="18376900" y="1105662"/>
                    <a:pt x="18361279" y="1121283"/>
                    <a:pt x="18341975" y="1121283"/>
                  </a:cubicBezTo>
                  <a:lnTo>
                    <a:pt x="34925" y="1121283"/>
                  </a:lnTo>
                  <a:cubicBezTo>
                    <a:pt x="15621" y="1121410"/>
                    <a:pt x="0" y="1105662"/>
                    <a:pt x="0" y="1086358"/>
                  </a:cubicBezTo>
                  <a:close/>
                </a:path>
              </a:pathLst>
            </a:custGeom>
            <a:solidFill>
              <a:srgbClr val="DBDBD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427389" y="7820844"/>
            <a:ext cx="218332" cy="174727"/>
            <a:chOff x="0" y="0"/>
            <a:chExt cx="291109" cy="232969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291084" cy="232918"/>
            </a:xfrm>
            <a:custGeom>
              <a:avLst/>
              <a:gdLst/>
              <a:ahLst/>
              <a:cxnLst/>
              <a:rect r="r" b="b" t="t" l="l"/>
              <a:pathLst>
                <a:path h="232918" w="291084">
                  <a:moveTo>
                    <a:pt x="0" y="0"/>
                  </a:moveTo>
                  <a:lnTo>
                    <a:pt x="291084" y="0"/>
                  </a:lnTo>
                  <a:lnTo>
                    <a:pt x="291084" y="232918"/>
                  </a:lnTo>
                  <a:lnTo>
                    <a:pt x="0" y="232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30" t="0" r="-1134" b="-21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2820438" y="7712650"/>
            <a:ext cx="1304017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Административные функции:</a:t>
            </a:r>
            <a:r>
              <a:rPr lang="en-US" sz="137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Для администраторов предусмотрены инструменты добавления, редактирования и удаления заведений, управления пользователями и модерации отзывов для обеспечения качества контента.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1303" y="1141657"/>
            <a:ext cx="7145236" cy="732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Пользовательские роли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303" y="2226469"/>
            <a:ext cx="16485394" cy="74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 системе реализована гибкая ролевая модель, обеспечивающая разграничение прав доступа и функциональных возможностей. Каждая роль предоставляет определённый набор функций, соответствующий задачам и потребностям конкретного типа пользователей.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4754" y="3201743"/>
            <a:ext cx="28575" cy="5914873"/>
            <a:chOff x="0" y="0"/>
            <a:chExt cx="38100" cy="7886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7886446"/>
            </a:xfrm>
            <a:custGeom>
              <a:avLst/>
              <a:gdLst/>
              <a:ahLst/>
              <a:cxnLst/>
              <a:rect r="r" b="b" t="t" l="l"/>
              <a:pathLst>
                <a:path h="788644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867396"/>
                  </a:lnTo>
                  <a:cubicBezTo>
                    <a:pt x="38100" y="7877937"/>
                    <a:pt x="29591" y="7886446"/>
                    <a:pt x="19050" y="7886446"/>
                  </a:cubicBezTo>
                  <a:cubicBezTo>
                    <a:pt x="8509" y="7886446"/>
                    <a:pt x="0" y="7877937"/>
                    <a:pt x="0" y="7867396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9639" y="3440906"/>
            <a:ext cx="675980" cy="28575"/>
            <a:chOff x="0" y="0"/>
            <a:chExt cx="901306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1319" cy="38100"/>
            </a:xfrm>
            <a:custGeom>
              <a:avLst/>
              <a:gdLst/>
              <a:ahLst/>
              <a:cxnLst/>
              <a:rect r="r" b="b" t="t" l="l"/>
              <a:pathLst>
                <a:path h="38100" w="90131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2269" y="0"/>
                  </a:lnTo>
                  <a:cubicBezTo>
                    <a:pt x="892810" y="0"/>
                    <a:pt x="901319" y="8509"/>
                    <a:pt x="901319" y="19050"/>
                  </a:cubicBezTo>
                  <a:cubicBezTo>
                    <a:pt x="901319" y="29591"/>
                    <a:pt x="892810" y="38100"/>
                    <a:pt x="88226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1303" y="3201743"/>
            <a:ext cx="506911" cy="506911"/>
            <a:chOff x="0" y="0"/>
            <a:chExt cx="675881" cy="6758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5894" cy="675894"/>
            </a:xfrm>
            <a:custGeom>
              <a:avLst/>
              <a:gdLst/>
              <a:ahLst/>
              <a:cxnLst/>
              <a:rect r="r" b="b" t="t" l="l"/>
              <a:pathLst>
                <a:path h="675894" w="675894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0809" y="0"/>
                  </a:lnTo>
                  <a:cubicBezTo>
                    <a:pt x="655701" y="0"/>
                    <a:pt x="675894" y="20193"/>
                    <a:pt x="675894" y="45085"/>
                  </a:cubicBezTo>
                  <a:lnTo>
                    <a:pt x="675894" y="630809"/>
                  </a:lnTo>
                  <a:cubicBezTo>
                    <a:pt x="675894" y="655701"/>
                    <a:pt x="655701" y="675894"/>
                    <a:pt x="630809" y="675894"/>
                  </a:cubicBezTo>
                  <a:lnTo>
                    <a:pt x="45085" y="675894"/>
                  </a:lnTo>
                  <a:cubicBezTo>
                    <a:pt x="20193" y="675894"/>
                    <a:pt x="0" y="655701"/>
                    <a:pt x="0" y="630809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85761" y="3282029"/>
            <a:ext cx="337985" cy="38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1533" y="3260084"/>
            <a:ext cx="2816723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Гость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81533" y="3696891"/>
            <a:ext cx="15105164" cy="10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Базовый уровень доступа без регистрации. Гости могут просматривать список кафе и ресторанов, использовать поиск и фильтрацию заведений, просматривать подробную информацию о каждом месте, включая меню, время работы и отзывы. Однако функции сохранения в избранное и оставления отзывов недоступны до регистрации.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79639" y="5434308"/>
            <a:ext cx="675980" cy="28575"/>
            <a:chOff x="0" y="0"/>
            <a:chExt cx="901306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1319" cy="38100"/>
            </a:xfrm>
            <a:custGeom>
              <a:avLst/>
              <a:gdLst/>
              <a:ahLst/>
              <a:cxnLst/>
              <a:rect r="r" b="b" t="t" l="l"/>
              <a:pathLst>
                <a:path h="38100" w="90131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2269" y="0"/>
                  </a:lnTo>
                  <a:cubicBezTo>
                    <a:pt x="892810" y="0"/>
                    <a:pt x="901319" y="8509"/>
                    <a:pt x="901319" y="19050"/>
                  </a:cubicBezTo>
                  <a:cubicBezTo>
                    <a:pt x="901319" y="29591"/>
                    <a:pt x="892810" y="38100"/>
                    <a:pt x="88226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01303" y="5195145"/>
            <a:ext cx="506911" cy="506911"/>
            <a:chOff x="0" y="0"/>
            <a:chExt cx="675881" cy="6758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5894" cy="675894"/>
            </a:xfrm>
            <a:custGeom>
              <a:avLst/>
              <a:gdLst/>
              <a:ahLst/>
              <a:cxnLst/>
              <a:rect r="r" b="b" t="t" l="l"/>
              <a:pathLst>
                <a:path h="675894" w="675894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0809" y="0"/>
                  </a:lnTo>
                  <a:cubicBezTo>
                    <a:pt x="655701" y="0"/>
                    <a:pt x="675894" y="20193"/>
                    <a:pt x="675894" y="45085"/>
                  </a:cubicBezTo>
                  <a:lnTo>
                    <a:pt x="675894" y="630809"/>
                  </a:lnTo>
                  <a:cubicBezTo>
                    <a:pt x="675894" y="655701"/>
                    <a:pt x="655701" y="675894"/>
                    <a:pt x="630809" y="675894"/>
                  </a:cubicBezTo>
                  <a:lnTo>
                    <a:pt x="45085" y="675894"/>
                  </a:lnTo>
                  <a:cubicBezTo>
                    <a:pt x="20193" y="675894"/>
                    <a:pt x="0" y="655701"/>
                    <a:pt x="0" y="630809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85761" y="5275440"/>
            <a:ext cx="337985" cy="38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1533" y="5253485"/>
            <a:ext cx="5352012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Зарегистрированный пользователь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81533" y="5690292"/>
            <a:ext cx="15105164" cy="10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Полный функционал для активного использования приложения. Включает все возможности гостя плюс добавление заведений в избранное для быстрого доступа, оставление отзывов и выставление оценок заведениям, управление личным профилем и настройками, просмотр истории посещений и сохранённых мест. Регистрация позволяет персонализировать опыт использования приложения.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79639" y="7427709"/>
            <a:ext cx="675980" cy="28575"/>
            <a:chOff x="0" y="0"/>
            <a:chExt cx="901306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01319" cy="38100"/>
            </a:xfrm>
            <a:custGeom>
              <a:avLst/>
              <a:gdLst/>
              <a:ahLst/>
              <a:cxnLst/>
              <a:rect r="r" b="b" t="t" l="l"/>
              <a:pathLst>
                <a:path h="38100" w="90131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2269" y="0"/>
                  </a:lnTo>
                  <a:cubicBezTo>
                    <a:pt x="892810" y="0"/>
                    <a:pt x="901319" y="8509"/>
                    <a:pt x="901319" y="19050"/>
                  </a:cubicBezTo>
                  <a:cubicBezTo>
                    <a:pt x="901319" y="29591"/>
                    <a:pt x="892810" y="38100"/>
                    <a:pt x="88226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01303" y="7188546"/>
            <a:ext cx="506911" cy="506911"/>
            <a:chOff x="0" y="0"/>
            <a:chExt cx="675881" cy="6758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5894" cy="675894"/>
            </a:xfrm>
            <a:custGeom>
              <a:avLst/>
              <a:gdLst/>
              <a:ahLst/>
              <a:cxnLst/>
              <a:rect r="r" b="b" t="t" l="l"/>
              <a:pathLst>
                <a:path h="675894" w="675894">
                  <a:moveTo>
                    <a:pt x="0" y="45085"/>
                  </a:moveTo>
                  <a:cubicBezTo>
                    <a:pt x="0" y="20193"/>
                    <a:pt x="20193" y="0"/>
                    <a:pt x="45085" y="0"/>
                  </a:cubicBezTo>
                  <a:lnTo>
                    <a:pt x="630809" y="0"/>
                  </a:lnTo>
                  <a:cubicBezTo>
                    <a:pt x="655701" y="0"/>
                    <a:pt x="675894" y="20193"/>
                    <a:pt x="675894" y="45085"/>
                  </a:cubicBezTo>
                  <a:lnTo>
                    <a:pt x="675894" y="630809"/>
                  </a:lnTo>
                  <a:cubicBezTo>
                    <a:pt x="675894" y="655701"/>
                    <a:pt x="655701" y="675894"/>
                    <a:pt x="630809" y="675894"/>
                  </a:cubicBezTo>
                  <a:lnTo>
                    <a:pt x="45085" y="675894"/>
                  </a:lnTo>
                  <a:cubicBezTo>
                    <a:pt x="20193" y="675894"/>
                    <a:pt x="0" y="655701"/>
                    <a:pt x="0" y="630809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85761" y="7268842"/>
            <a:ext cx="337985" cy="38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625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81533" y="7246887"/>
            <a:ext cx="2816723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Администратор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81533" y="7683703"/>
            <a:ext cx="15105164" cy="143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Расширенные права для управления контентом и модерации. Администраторы могут добавлять новые заведения в базу данных, редактировать и удалять информацию о существующих местах, управлять учётными записями пользователей, модерировать отзывы и удалять некорректный контент, контролировать актуальность и качество размещённой информации, просматривать статистику использования приложения.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19577" y="1375772"/>
            <a:ext cx="1038968" cy="254794"/>
            <a:chOff x="0" y="0"/>
            <a:chExt cx="1385291" cy="339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5316" cy="339725"/>
            </a:xfrm>
            <a:custGeom>
              <a:avLst/>
              <a:gdLst/>
              <a:ahLst/>
              <a:cxnLst/>
              <a:rect r="r" b="b" t="t" l="l"/>
              <a:pathLst>
                <a:path h="339725" w="1385316">
                  <a:moveTo>
                    <a:pt x="0" y="24892"/>
                  </a:moveTo>
                  <a:cubicBezTo>
                    <a:pt x="0" y="11176"/>
                    <a:pt x="11176" y="0"/>
                    <a:pt x="24892" y="0"/>
                  </a:cubicBezTo>
                  <a:lnTo>
                    <a:pt x="1360424" y="0"/>
                  </a:lnTo>
                  <a:cubicBezTo>
                    <a:pt x="1374140" y="0"/>
                    <a:pt x="1385316" y="11176"/>
                    <a:pt x="1385316" y="24892"/>
                  </a:cubicBezTo>
                  <a:lnTo>
                    <a:pt x="1385316" y="314833"/>
                  </a:lnTo>
                  <a:cubicBezTo>
                    <a:pt x="1385316" y="328549"/>
                    <a:pt x="1374140" y="339725"/>
                    <a:pt x="1360424" y="339725"/>
                  </a:cubicBezTo>
                  <a:lnTo>
                    <a:pt x="24892" y="339725"/>
                  </a:lnTo>
                  <a:cubicBezTo>
                    <a:pt x="11176" y="339725"/>
                    <a:pt x="0" y="328549"/>
                    <a:pt x="0" y="314833"/>
                  </a:cubicBezTo>
                  <a:close/>
                </a:path>
              </a:pathLst>
            </a:custGeom>
            <a:solidFill>
              <a:srgbClr val="E7E7E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12741" y="1403299"/>
            <a:ext cx="852640" cy="18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БАЗА ДАННЫХ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19577" y="1640834"/>
            <a:ext cx="4816078" cy="51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0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Структура базы данных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19577" y="2281533"/>
            <a:ext cx="12248702" cy="42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База данных спроектирована по реляционной модели и обеспечивает эффективное хранение, быстрый доступ и целостность всех данных приложения. Структура оптимизирована для обработки запросов поиска и фильтрации в реальном времени.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010052" y="2914059"/>
            <a:ext cx="5953868" cy="2143420"/>
            <a:chOff x="0" y="0"/>
            <a:chExt cx="7938491" cy="28578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7913116" cy="2832481"/>
            </a:xfrm>
            <a:custGeom>
              <a:avLst/>
              <a:gdLst/>
              <a:ahLst/>
              <a:cxnLst/>
              <a:rect r="r" b="b" t="t" l="l"/>
              <a:pathLst>
                <a:path h="2832481" w="7913116">
                  <a:moveTo>
                    <a:pt x="0" y="31115"/>
                  </a:moveTo>
                  <a:cubicBezTo>
                    <a:pt x="0" y="13970"/>
                    <a:pt x="13970" y="0"/>
                    <a:pt x="31242" y="0"/>
                  </a:cubicBezTo>
                  <a:lnTo>
                    <a:pt x="7881874" y="0"/>
                  </a:lnTo>
                  <a:cubicBezTo>
                    <a:pt x="7899146" y="0"/>
                    <a:pt x="7913116" y="13970"/>
                    <a:pt x="7913116" y="31115"/>
                  </a:cubicBezTo>
                  <a:lnTo>
                    <a:pt x="7913116" y="2801366"/>
                  </a:lnTo>
                  <a:cubicBezTo>
                    <a:pt x="7913116" y="2818511"/>
                    <a:pt x="7899146" y="2832481"/>
                    <a:pt x="7881874" y="2832481"/>
                  </a:cubicBezTo>
                  <a:lnTo>
                    <a:pt x="31242" y="2832481"/>
                  </a:lnTo>
                  <a:cubicBezTo>
                    <a:pt x="13970" y="2832481"/>
                    <a:pt x="0" y="2818511"/>
                    <a:pt x="0" y="2801366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38516" cy="2857881"/>
            </a:xfrm>
            <a:custGeom>
              <a:avLst/>
              <a:gdLst/>
              <a:ahLst/>
              <a:cxnLst/>
              <a:rect r="r" b="b" t="t" l="l"/>
              <a:pathLst>
                <a:path h="2857881" w="7938516">
                  <a:moveTo>
                    <a:pt x="0" y="43815"/>
                  </a:moveTo>
                  <a:cubicBezTo>
                    <a:pt x="0" y="19558"/>
                    <a:pt x="19685" y="0"/>
                    <a:pt x="43942" y="0"/>
                  </a:cubicBezTo>
                  <a:lnTo>
                    <a:pt x="7894574" y="0"/>
                  </a:lnTo>
                  <a:lnTo>
                    <a:pt x="7894574" y="12700"/>
                  </a:lnTo>
                  <a:lnTo>
                    <a:pt x="7894574" y="0"/>
                  </a:lnTo>
                  <a:cubicBezTo>
                    <a:pt x="7918831" y="0"/>
                    <a:pt x="7938516" y="19558"/>
                    <a:pt x="7938516" y="43815"/>
                  </a:cubicBezTo>
                  <a:lnTo>
                    <a:pt x="7925816" y="43815"/>
                  </a:lnTo>
                  <a:lnTo>
                    <a:pt x="7938516" y="43815"/>
                  </a:lnTo>
                  <a:lnTo>
                    <a:pt x="7938516" y="2814066"/>
                  </a:lnTo>
                  <a:lnTo>
                    <a:pt x="7925816" y="2814066"/>
                  </a:lnTo>
                  <a:lnTo>
                    <a:pt x="7938516" y="2814066"/>
                  </a:lnTo>
                  <a:cubicBezTo>
                    <a:pt x="7938516" y="2838323"/>
                    <a:pt x="7918831" y="2857881"/>
                    <a:pt x="7894574" y="2857881"/>
                  </a:cubicBezTo>
                  <a:lnTo>
                    <a:pt x="7894574" y="2845181"/>
                  </a:lnTo>
                  <a:lnTo>
                    <a:pt x="7894574" y="2857881"/>
                  </a:lnTo>
                  <a:lnTo>
                    <a:pt x="43942" y="2857881"/>
                  </a:lnTo>
                  <a:lnTo>
                    <a:pt x="43942" y="2845181"/>
                  </a:lnTo>
                  <a:lnTo>
                    <a:pt x="43942" y="2857881"/>
                  </a:lnTo>
                  <a:cubicBezTo>
                    <a:pt x="19685" y="2857881"/>
                    <a:pt x="0" y="2838323"/>
                    <a:pt x="0" y="2814066"/>
                  </a:cubicBezTo>
                  <a:lnTo>
                    <a:pt x="0" y="43815"/>
                  </a:lnTo>
                  <a:lnTo>
                    <a:pt x="12700" y="43815"/>
                  </a:lnTo>
                  <a:lnTo>
                    <a:pt x="0" y="43815"/>
                  </a:lnTo>
                  <a:moveTo>
                    <a:pt x="25400" y="43815"/>
                  </a:moveTo>
                  <a:lnTo>
                    <a:pt x="25400" y="2814066"/>
                  </a:lnTo>
                  <a:lnTo>
                    <a:pt x="12700" y="2814066"/>
                  </a:lnTo>
                  <a:lnTo>
                    <a:pt x="25400" y="2814066"/>
                  </a:lnTo>
                  <a:cubicBezTo>
                    <a:pt x="25400" y="2824099"/>
                    <a:pt x="33655" y="2832481"/>
                    <a:pt x="43942" y="2832481"/>
                  </a:cubicBezTo>
                  <a:lnTo>
                    <a:pt x="7894574" y="2832481"/>
                  </a:lnTo>
                  <a:cubicBezTo>
                    <a:pt x="7904861" y="2832481"/>
                    <a:pt x="7913116" y="2824226"/>
                    <a:pt x="7913116" y="2814066"/>
                  </a:cubicBezTo>
                  <a:lnTo>
                    <a:pt x="7913116" y="43815"/>
                  </a:lnTo>
                  <a:cubicBezTo>
                    <a:pt x="7913116" y="33782"/>
                    <a:pt x="7904861" y="25400"/>
                    <a:pt x="7894574" y="25400"/>
                  </a:cubicBezTo>
                  <a:lnTo>
                    <a:pt x="43942" y="25400"/>
                  </a:lnTo>
                  <a:lnTo>
                    <a:pt x="43942" y="12700"/>
                  </a:lnTo>
                  <a:lnTo>
                    <a:pt x="43942" y="25400"/>
                  </a:lnTo>
                  <a:cubicBezTo>
                    <a:pt x="33655" y="25400"/>
                    <a:pt x="25400" y="33655"/>
                    <a:pt x="25400" y="4381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038627" y="2942634"/>
            <a:ext cx="621211" cy="2086270"/>
            <a:chOff x="0" y="0"/>
            <a:chExt cx="828281" cy="27816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8294" cy="2781681"/>
            </a:xfrm>
            <a:custGeom>
              <a:avLst/>
              <a:gdLst/>
              <a:ahLst/>
              <a:cxnLst/>
              <a:rect r="r" b="b" t="t" l="l"/>
              <a:pathLst>
                <a:path h="2781681" w="828294">
                  <a:moveTo>
                    <a:pt x="0" y="635"/>
                  </a:moveTo>
                  <a:cubicBezTo>
                    <a:pt x="0" y="254"/>
                    <a:pt x="254" y="0"/>
                    <a:pt x="635" y="0"/>
                  </a:cubicBezTo>
                  <a:lnTo>
                    <a:pt x="827659" y="0"/>
                  </a:lnTo>
                  <a:cubicBezTo>
                    <a:pt x="828040" y="0"/>
                    <a:pt x="828294" y="254"/>
                    <a:pt x="828294" y="635"/>
                  </a:cubicBezTo>
                  <a:lnTo>
                    <a:pt x="828294" y="2781046"/>
                  </a:lnTo>
                  <a:cubicBezTo>
                    <a:pt x="828294" y="2781427"/>
                    <a:pt x="828040" y="2781681"/>
                    <a:pt x="827659" y="2781681"/>
                  </a:cubicBezTo>
                  <a:lnTo>
                    <a:pt x="635" y="2781681"/>
                  </a:lnTo>
                  <a:cubicBezTo>
                    <a:pt x="254" y="2781681"/>
                    <a:pt x="0" y="2781427"/>
                    <a:pt x="0" y="2781046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757022" y="3088329"/>
            <a:ext cx="1941462" cy="25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Users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57022" y="3418732"/>
            <a:ext cx="5023094" cy="22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Таблица пользователей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57022" y="3708349"/>
            <a:ext cx="5023094" cy="102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id_user (PK) — уникальный идентификатор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name — имя пользователя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email — адрес электронной почты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password — хешированный пароль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role — роль пользователя в системе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010052" y="4829699"/>
            <a:ext cx="5953868" cy="2851547"/>
            <a:chOff x="0" y="0"/>
            <a:chExt cx="7938491" cy="3802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7913116" cy="3776726"/>
            </a:xfrm>
            <a:custGeom>
              <a:avLst/>
              <a:gdLst/>
              <a:ahLst/>
              <a:cxnLst/>
              <a:rect r="r" b="b" t="t" l="l"/>
              <a:pathLst>
                <a:path h="3776726" w="7913116">
                  <a:moveTo>
                    <a:pt x="0" y="31115"/>
                  </a:moveTo>
                  <a:cubicBezTo>
                    <a:pt x="0" y="13970"/>
                    <a:pt x="13970" y="0"/>
                    <a:pt x="31242" y="0"/>
                  </a:cubicBezTo>
                  <a:lnTo>
                    <a:pt x="7881874" y="0"/>
                  </a:lnTo>
                  <a:cubicBezTo>
                    <a:pt x="7899146" y="0"/>
                    <a:pt x="7913116" y="13970"/>
                    <a:pt x="7913116" y="31115"/>
                  </a:cubicBezTo>
                  <a:lnTo>
                    <a:pt x="7913116" y="3745611"/>
                  </a:lnTo>
                  <a:cubicBezTo>
                    <a:pt x="7913116" y="3762756"/>
                    <a:pt x="7899146" y="3776726"/>
                    <a:pt x="7881874" y="3776726"/>
                  </a:cubicBezTo>
                  <a:lnTo>
                    <a:pt x="31242" y="3776726"/>
                  </a:lnTo>
                  <a:cubicBezTo>
                    <a:pt x="13970" y="3776726"/>
                    <a:pt x="0" y="3762756"/>
                    <a:pt x="0" y="3745611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38516" cy="3802126"/>
            </a:xfrm>
            <a:custGeom>
              <a:avLst/>
              <a:gdLst/>
              <a:ahLst/>
              <a:cxnLst/>
              <a:rect r="r" b="b" t="t" l="l"/>
              <a:pathLst>
                <a:path h="3802126" w="7938516">
                  <a:moveTo>
                    <a:pt x="0" y="43815"/>
                  </a:moveTo>
                  <a:cubicBezTo>
                    <a:pt x="0" y="19558"/>
                    <a:pt x="19685" y="0"/>
                    <a:pt x="43942" y="0"/>
                  </a:cubicBezTo>
                  <a:lnTo>
                    <a:pt x="7894574" y="0"/>
                  </a:lnTo>
                  <a:lnTo>
                    <a:pt x="7894574" y="12700"/>
                  </a:lnTo>
                  <a:lnTo>
                    <a:pt x="7894574" y="0"/>
                  </a:lnTo>
                  <a:cubicBezTo>
                    <a:pt x="7918831" y="0"/>
                    <a:pt x="7938516" y="19558"/>
                    <a:pt x="7938516" y="43815"/>
                  </a:cubicBezTo>
                  <a:lnTo>
                    <a:pt x="7925816" y="43815"/>
                  </a:lnTo>
                  <a:lnTo>
                    <a:pt x="7938516" y="43815"/>
                  </a:lnTo>
                  <a:lnTo>
                    <a:pt x="7938516" y="3758311"/>
                  </a:lnTo>
                  <a:lnTo>
                    <a:pt x="7925816" y="3758311"/>
                  </a:lnTo>
                  <a:lnTo>
                    <a:pt x="7938516" y="3758311"/>
                  </a:lnTo>
                  <a:cubicBezTo>
                    <a:pt x="7938516" y="3782568"/>
                    <a:pt x="7918831" y="3802126"/>
                    <a:pt x="7894574" y="3802126"/>
                  </a:cubicBezTo>
                  <a:lnTo>
                    <a:pt x="7894574" y="3789426"/>
                  </a:lnTo>
                  <a:lnTo>
                    <a:pt x="7894574" y="3802126"/>
                  </a:lnTo>
                  <a:lnTo>
                    <a:pt x="43942" y="3802126"/>
                  </a:lnTo>
                  <a:lnTo>
                    <a:pt x="43942" y="3789426"/>
                  </a:lnTo>
                  <a:lnTo>
                    <a:pt x="43942" y="3802126"/>
                  </a:lnTo>
                  <a:cubicBezTo>
                    <a:pt x="19685" y="3802126"/>
                    <a:pt x="0" y="3782568"/>
                    <a:pt x="0" y="3758311"/>
                  </a:cubicBezTo>
                  <a:lnTo>
                    <a:pt x="0" y="43815"/>
                  </a:lnTo>
                  <a:lnTo>
                    <a:pt x="12700" y="43815"/>
                  </a:lnTo>
                  <a:lnTo>
                    <a:pt x="0" y="43815"/>
                  </a:lnTo>
                  <a:moveTo>
                    <a:pt x="25400" y="43815"/>
                  </a:moveTo>
                  <a:lnTo>
                    <a:pt x="25400" y="3758311"/>
                  </a:lnTo>
                  <a:lnTo>
                    <a:pt x="12700" y="3758311"/>
                  </a:lnTo>
                  <a:lnTo>
                    <a:pt x="25400" y="3758311"/>
                  </a:lnTo>
                  <a:cubicBezTo>
                    <a:pt x="25400" y="3768471"/>
                    <a:pt x="33655" y="3776726"/>
                    <a:pt x="43942" y="3776726"/>
                  </a:cubicBezTo>
                  <a:lnTo>
                    <a:pt x="7894574" y="3776726"/>
                  </a:lnTo>
                  <a:cubicBezTo>
                    <a:pt x="7904861" y="3776726"/>
                    <a:pt x="7913116" y="3768471"/>
                    <a:pt x="7913116" y="3758311"/>
                  </a:cubicBezTo>
                  <a:lnTo>
                    <a:pt x="7913116" y="43815"/>
                  </a:lnTo>
                  <a:cubicBezTo>
                    <a:pt x="7913116" y="33655"/>
                    <a:pt x="7904861" y="25400"/>
                    <a:pt x="7894574" y="25400"/>
                  </a:cubicBezTo>
                  <a:lnTo>
                    <a:pt x="43942" y="25400"/>
                  </a:lnTo>
                  <a:lnTo>
                    <a:pt x="43942" y="12700"/>
                  </a:lnTo>
                  <a:lnTo>
                    <a:pt x="43942" y="25400"/>
                  </a:lnTo>
                  <a:cubicBezTo>
                    <a:pt x="33655" y="25400"/>
                    <a:pt x="25400" y="33655"/>
                    <a:pt x="25400" y="4381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038627" y="4858274"/>
            <a:ext cx="621211" cy="2794397"/>
            <a:chOff x="0" y="0"/>
            <a:chExt cx="828281" cy="37258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8294" cy="3725926"/>
            </a:xfrm>
            <a:custGeom>
              <a:avLst/>
              <a:gdLst/>
              <a:ahLst/>
              <a:cxnLst/>
              <a:rect r="r" b="b" t="t" l="l"/>
              <a:pathLst>
                <a:path h="3725926" w="828294">
                  <a:moveTo>
                    <a:pt x="0" y="635"/>
                  </a:moveTo>
                  <a:cubicBezTo>
                    <a:pt x="0" y="254"/>
                    <a:pt x="254" y="0"/>
                    <a:pt x="635" y="0"/>
                  </a:cubicBezTo>
                  <a:lnTo>
                    <a:pt x="827659" y="0"/>
                  </a:lnTo>
                  <a:cubicBezTo>
                    <a:pt x="828040" y="0"/>
                    <a:pt x="828294" y="254"/>
                    <a:pt x="828294" y="635"/>
                  </a:cubicBezTo>
                  <a:lnTo>
                    <a:pt x="828294" y="3725291"/>
                  </a:lnTo>
                  <a:cubicBezTo>
                    <a:pt x="828294" y="3725672"/>
                    <a:pt x="828040" y="3725926"/>
                    <a:pt x="827659" y="3725926"/>
                  </a:cubicBezTo>
                  <a:lnTo>
                    <a:pt x="635" y="3725926"/>
                  </a:lnTo>
                  <a:cubicBezTo>
                    <a:pt x="254" y="3725926"/>
                    <a:pt x="0" y="3725672"/>
                    <a:pt x="0" y="3725291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3757022" y="5003978"/>
            <a:ext cx="1941462" cy="25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Restaurants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57022" y="5334371"/>
            <a:ext cx="5023094" cy="22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Таблица заведений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57022" y="5623998"/>
            <a:ext cx="5023094" cy="1635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id_restaurant (PK) — уникальный идентификатор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name — название заведения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address — полный адрес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cuisine_type — тип кухни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price_category — ценовая категория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rating — средний рейтинг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working_hours — график работы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description — описание заведения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33309" y="2914059"/>
            <a:ext cx="5953868" cy="2379459"/>
            <a:chOff x="0" y="0"/>
            <a:chExt cx="7938491" cy="31726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7913116" cy="3147314"/>
            </a:xfrm>
            <a:custGeom>
              <a:avLst/>
              <a:gdLst/>
              <a:ahLst/>
              <a:cxnLst/>
              <a:rect r="r" b="b" t="t" l="l"/>
              <a:pathLst>
                <a:path h="3147314" w="7913116">
                  <a:moveTo>
                    <a:pt x="0" y="31115"/>
                  </a:moveTo>
                  <a:cubicBezTo>
                    <a:pt x="0" y="13970"/>
                    <a:pt x="13970" y="0"/>
                    <a:pt x="31242" y="0"/>
                  </a:cubicBezTo>
                  <a:lnTo>
                    <a:pt x="7881874" y="0"/>
                  </a:lnTo>
                  <a:cubicBezTo>
                    <a:pt x="7899146" y="0"/>
                    <a:pt x="7913116" y="13970"/>
                    <a:pt x="7913116" y="31115"/>
                  </a:cubicBezTo>
                  <a:lnTo>
                    <a:pt x="7913116" y="3116199"/>
                  </a:lnTo>
                  <a:cubicBezTo>
                    <a:pt x="7913116" y="3133344"/>
                    <a:pt x="7899146" y="3147314"/>
                    <a:pt x="7881874" y="3147314"/>
                  </a:cubicBezTo>
                  <a:lnTo>
                    <a:pt x="31242" y="3147314"/>
                  </a:lnTo>
                  <a:cubicBezTo>
                    <a:pt x="13970" y="3147314"/>
                    <a:pt x="0" y="3133344"/>
                    <a:pt x="0" y="3116199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38516" cy="3172714"/>
            </a:xfrm>
            <a:custGeom>
              <a:avLst/>
              <a:gdLst/>
              <a:ahLst/>
              <a:cxnLst/>
              <a:rect r="r" b="b" t="t" l="l"/>
              <a:pathLst>
                <a:path h="3172714" w="7938516">
                  <a:moveTo>
                    <a:pt x="0" y="43815"/>
                  </a:moveTo>
                  <a:cubicBezTo>
                    <a:pt x="0" y="19558"/>
                    <a:pt x="19685" y="0"/>
                    <a:pt x="43942" y="0"/>
                  </a:cubicBezTo>
                  <a:lnTo>
                    <a:pt x="7894574" y="0"/>
                  </a:lnTo>
                  <a:lnTo>
                    <a:pt x="7894574" y="12700"/>
                  </a:lnTo>
                  <a:lnTo>
                    <a:pt x="7894574" y="0"/>
                  </a:lnTo>
                  <a:cubicBezTo>
                    <a:pt x="7918831" y="0"/>
                    <a:pt x="7938516" y="19558"/>
                    <a:pt x="7938516" y="43815"/>
                  </a:cubicBezTo>
                  <a:lnTo>
                    <a:pt x="7925816" y="43815"/>
                  </a:lnTo>
                  <a:lnTo>
                    <a:pt x="7938516" y="43815"/>
                  </a:lnTo>
                  <a:lnTo>
                    <a:pt x="7938516" y="3128899"/>
                  </a:lnTo>
                  <a:lnTo>
                    <a:pt x="7925816" y="3128899"/>
                  </a:lnTo>
                  <a:lnTo>
                    <a:pt x="7938516" y="3128899"/>
                  </a:lnTo>
                  <a:cubicBezTo>
                    <a:pt x="7938516" y="3153156"/>
                    <a:pt x="7918831" y="3172714"/>
                    <a:pt x="7894574" y="3172714"/>
                  </a:cubicBezTo>
                  <a:lnTo>
                    <a:pt x="7894574" y="3160014"/>
                  </a:lnTo>
                  <a:lnTo>
                    <a:pt x="7894574" y="3172714"/>
                  </a:lnTo>
                  <a:lnTo>
                    <a:pt x="43942" y="3172714"/>
                  </a:lnTo>
                  <a:lnTo>
                    <a:pt x="43942" y="3160014"/>
                  </a:lnTo>
                  <a:lnTo>
                    <a:pt x="43942" y="3172714"/>
                  </a:lnTo>
                  <a:cubicBezTo>
                    <a:pt x="19685" y="3172714"/>
                    <a:pt x="0" y="3153156"/>
                    <a:pt x="0" y="3128899"/>
                  </a:cubicBezTo>
                  <a:lnTo>
                    <a:pt x="0" y="43815"/>
                  </a:lnTo>
                  <a:lnTo>
                    <a:pt x="12700" y="43815"/>
                  </a:lnTo>
                  <a:lnTo>
                    <a:pt x="0" y="43815"/>
                  </a:lnTo>
                  <a:moveTo>
                    <a:pt x="25400" y="43815"/>
                  </a:moveTo>
                  <a:lnTo>
                    <a:pt x="25400" y="3128899"/>
                  </a:lnTo>
                  <a:lnTo>
                    <a:pt x="12700" y="3128899"/>
                  </a:lnTo>
                  <a:lnTo>
                    <a:pt x="25400" y="3128899"/>
                  </a:lnTo>
                  <a:cubicBezTo>
                    <a:pt x="25400" y="3138932"/>
                    <a:pt x="33655" y="3147314"/>
                    <a:pt x="43942" y="3147314"/>
                  </a:cubicBezTo>
                  <a:lnTo>
                    <a:pt x="7894574" y="3147314"/>
                  </a:lnTo>
                  <a:cubicBezTo>
                    <a:pt x="7904861" y="3147314"/>
                    <a:pt x="7913116" y="3139059"/>
                    <a:pt x="7913116" y="3128899"/>
                  </a:cubicBezTo>
                  <a:lnTo>
                    <a:pt x="7913116" y="43815"/>
                  </a:lnTo>
                  <a:cubicBezTo>
                    <a:pt x="7913116" y="33782"/>
                    <a:pt x="7904861" y="25400"/>
                    <a:pt x="7894574" y="25400"/>
                  </a:cubicBezTo>
                  <a:lnTo>
                    <a:pt x="43942" y="25400"/>
                  </a:lnTo>
                  <a:lnTo>
                    <a:pt x="43942" y="12700"/>
                  </a:lnTo>
                  <a:lnTo>
                    <a:pt x="43942" y="25400"/>
                  </a:lnTo>
                  <a:cubicBezTo>
                    <a:pt x="33655" y="25400"/>
                    <a:pt x="25400" y="33655"/>
                    <a:pt x="25400" y="4381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61884" y="2942634"/>
            <a:ext cx="621211" cy="2322309"/>
            <a:chOff x="0" y="0"/>
            <a:chExt cx="828281" cy="30964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8294" cy="3096514"/>
            </a:xfrm>
            <a:custGeom>
              <a:avLst/>
              <a:gdLst/>
              <a:ahLst/>
              <a:cxnLst/>
              <a:rect r="r" b="b" t="t" l="l"/>
              <a:pathLst>
                <a:path h="3096514" w="828294">
                  <a:moveTo>
                    <a:pt x="0" y="635"/>
                  </a:moveTo>
                  <a:cubicBezTo>
                    <a:pt x="0" y="254"/>
                    <a:pt x="254" y="0"/>
                    <a:pt x="635" y="0"/>
                  </a:cubicBezTo>
                  <a:lnTo>
                    <a:pt x="827659" y="0"/>
                  </a:lnTo>
                  <a:cubicBezTo>
                    <a:pt x="828040" y="0"/>
                    <a:pt x="828294" y="254"/>
                    <a:pt x="828294" y="635"/>
                  </a:cubicBezTo>
                  <a:lnTo>
                    <a:pt x="828294" y="3095879"/>
                  </a:lnTo>
                  <a:cubicBezTo>
                    <a:pt x="828294" y="3096260"/>
                    <a:pt x="828040" y="3096514"/>
                    <a:pt x="827659" y="3096514"/>
                  </a:cubicBezTo>
                  <a:lnTo>
                    <a:pt x="635" y="3096514"/>
                  </a:lnTo>
                  <a:cubicBezTo>
                    <a:pt x="254" y="3096514"/>
                    <a:pt x="0" y="3096260"/>
                    <a:pt x="0" y="3095879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080279" y="3088329"/>
            <a:ext cx="1941462" cy="25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Reviews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80279" y="3418732"/>
            <a:ext cx="5023094" cy="22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Таблица отзывов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80279" y="3708349"/>
            <a:ext cx="5023094" cy="123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id_review (PK) — уникальный идентификатор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id_user (FK) — ссылка на пользователя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id_restaurant (FK) — ссылка на заведение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rating — числовая оценка (1-5)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comment — текст отзыва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date — дата публикации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33309" y="5065738"/>
            <a:ext cx="5953868" cy="2163070"/>
            <a:chOff x="0" y="0"/>
            <a:chExt cx="7938491" cy="28840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7913116" cy="2858770"/>
            </a:xfrm>
            <a:custGeom>
              <a:avLst/>
              <a:gdLst/>
              <a:ahLst/>
              <a:cxnLst/>
              <a:rect r="r" b="b" t="t" l="l"/>
              <a:pathLst>
                <a:path h="2858770" w="7913116">
                  <a:moveTo>
                    <a:pt x="0" y="31115"/>
                  </a:moveTo>
                  <a:cubicBezTo>
                    <a:pt x="0" y="13970"/>
                    <a:pt x="13970" y="0"/>
                    <a:pt x="31242" y="0"/>
                  </a:cubicBezTo>
                  <a:lnTo>
                    <a:pt x="7881874" y="0"/>
                  </a:lnTo>
                  <a:cubicBezTo>
                    <a:pt x="7899146" y="0"/>
                    <a:pt x="7913116" y="13970"/>
                    <a:pt x="7913116" y="31115"/>
                  </a:cubicBezTo>
                  <a:lnTo>
                    <a:pt x="7913116" y="2827655"/>
                  </a:lnTo>
                  <a:cubicBezTo>
                    <a:pt x="7913116" y="2844800"/>
                    <a:pt x="7899146" y="2858770"/>
                    <a:pt x="7881874" y="2858770"/>
                  </a:cubicBezTo>
                  <a:lnTo>
                    <a:pt x="31242" y="2858770"/>
                  </a:lnTo>
                  <a:cubicBezTo>
                    <a:pt x="13970" y="2858643"/>
                    <a:pt x="0" y="2844800"/>
                    <a:pt x="0" y="2827655"/>
                  </a:cubicBez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938516" cy="2884170"/>
            </a:xfrm>
            <a:custGeom>
              <a:avLst/>
              <a:gdLst/>
              <a:ahLst/>
              <a:cxnLst/>
              <a:rect r="r" b="b" t="t" l="l"/>
              <a:pathLst>
                <a:path h="2884170" w="7938516">
                  <a:moveTo>
                    <a:pt x="0" y="43815"/>
                  </a:moveTo>
                  <a:cubicBezTo>
                    <a:pt x="0" y="19558"/>
                    <a:pt x="19685" y="0"/>
                    <a:pt x="43942" y="0"/>
                  </a:cubicBezTo>
                  <a:lnTo>
                    <a:pt x="7894574" y="0"/>
                  </a:lnTo>
                  <a:lnTo>
                    <a:pt x="7894574" y="12700"/>
                  </a:lnTo>
                  <a:lnTo>
                    <a:pt x="7894574" y="0"/>
                  </a:lnTo>
                  <a:cubicBezTo>
                    <a:pt x="7918831" y="0"/>
                    <a:pt x="7938516" y="19558"/>
                    <a:pt x="7938516" y="43815"/>
                  </a:cubicBezTo>
                  <a:lnTo>
                    <a:pt x="7925816" y="43815"/>
                  </a:lnTo>
                  <a:lnTo>
                    <a:pt x="7938516" y="43815"/>
                  </a:lnTo>
                  <a:lnTo>
                    <a:pt x="7938516" y="2840355"/>
                  </a:lnTo>
                  <a:lnTo>
                    <a:pt x="7925816" y="2840355"/>
                  </a:lnTo>
                  <a:lnTo>
                    <a:pt x="7938516" y="2840355"/>
                  </a:lnTo>
                  <a:cubicBezTo>
                    <a:pt x="7938516" y="2864612"/>
                    <a:pt x="7918831" y="2884170"/>
                    <a:pt x="7894574" y="2884170"/>
                  </a:cubicBezTo>
                  <a:lnTo>
                    <a:pt x="7894574" y="2871470"/>
                  </a:lnTo>
                  <a:lnTo>
                    <a:pt x="7894574" y="2884170"/>
                  </a:lnTo>
                  <a:lnTo>
                    <a:pt x="43942" y="2884170"/>
                  </a:lnTo>
                  <a:lnTo>
                    <a:pt x="43942" y="2871470"/>
                  </a:lnTo>
                  <a:lnTo>
                    <a:pt x="43942" y="2884170"/>
                  </a:lnTo>
                  <a:cubicBezTo>
                    <a:pt x="19685" y="2884170"/>
                    <a:pt x="0" y="2864612"/>
                    <a:pt x="0" y="2840355"/>
                  </a:cubicBezTo>
                  <a:lnTo>
                    <a:pt x="0" y="43815"/>
                  </a:lnTo>
                  <a:lnTo>
                    <a:pt x="12700" y="43815"/>
                  </a:lnTo>
                  <a:lnTo>
                    <a:pt x="0" y="43815"/>
                  </a:lnTo>
                  <a:moveTo>
                    <a:pt x="25400" y="43815"/>
                  </a:moveTo>
                  <a:lnTo>
                    <a:pt x="25400" y="2840355"/>
                  </a:lnTo>
                  <a:lnTo>
                    <a:pt x="12700" y="2840355"/>
                  </a:lnTo>
                  <a:lnTo>
                    <a:pt x="25400" y="2840355"/>
                  </a:lnTo>
                  <a:cubicBezTo>
                    <a:pt x="25400" y="2850388"/>
                    <a:pt x="33655" y="2858770"/>
                    <a:pt x="43942" y="2858770"/>
                  </a:cubicBezTo>
                  <a:lnTo>
                    <a:pt x="7894574" y="2858770"/>
                  </a:lnTo>
                  <a:cubicBezTo>
                    <a:pt x="7904861" y="2858770"/>
                    <a:pt x="7913116" y="2850515"/>
                    <a:pt x="7913116" y="2840355"/>
                  </a:cubicBezTo>
                  <a:lnTo>
                    <a:pt x="7913116" y="43815"/>
                  </a:lnTo>
                  <a:cubicBezTo>
                    <a:pt x="7913116" y="33782"/>
                    <a:pt x="7904861" y="25400"/>
                    <a:pt x="7894574" y="25400"/>
                  </a:cubicBezTo>
                  <a:lnTo>
                    <a:pt x="43942" y="25400"/>
                  </a:lnTo>
                  <a:lnTo>
                    <a:pt x="43942" y="12700"/>
                  </a:lnTo>
                  <a:lnTo>
                    <a:pt x="43942" y="25400"/>
                  </a:lnTo>
                  <a:cubicBezTo>
                    <a:pt x="33655" y="25400"/>
                    <a:pt x="25400" y="33655"/>
                    <a:pt x="25400" y="43815"/>
                  </a:cubicBezTo>
                  <a:close/>
                </a:path>
              </a:pathLst>
            </a:custGeom>
            <a:solidFill>
              <a:srgbClr val="CBC5B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61884" y="5094313"/>
            <a:ext cx="621211" cy="2105920"/>
            <a:chOff x="0" y="0"/>
            <a:chExt cx="828281" cy="280789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8294" cy="2807970"/>
            </a:xfrm>
            <a:custGeom>
              <a:avLst/>
              <a:gdLst/>
              <a:ahLst/>
              <a:cxnLst/>
              <a:rect r="r" b="b" t="t" l="l"/>
              <a:pathLst>
                <a:path h="2807970" w="828294">
                  <a:moveTo>
                    <a:pt x="0" y="635"/>
                  </a:moveTo>
                  <a:cubicBezTo>
                    <a:pt x="0" y="254"/>
                    <a:pt x="254" y="0"/>
                    <a:pt x="635" y="0"/>
                  </a:cubicBezTo>
                  <a:lnTo>
                    <a:pt x="827659" y="0"/>
                  </a:lnTo>
                  <a:cubicBezTo>
                    <a:pt x="828040" y="0"/>
                    <a:pt x="828294" y="254"/>
                    <a:pt x="828294" y="635"/>
                  </a:cubicBezTo>
                  <a:lnTo>
                    <a:pt x="828294" y="2807335"/>
                  </a:lnTo>
                  <a:cubicBezTo>
                    <a:pt x="828294" y="2807716"/>
                    <a:pt x="828040" y="2807970"/>
                    <a:pt x="827659" y="2807970"/>
                  </a:cubicBezTo>
                  <a:lnTo>
                    <a:pt x="635" y="2807970"/>
                  </a:lnTo>
                  <a:cubicBezTo>
                    <a:pt x="254" y="2807970"/>
                    <a:pt x="0" y="2807716"/>
                    <a:pt x="0" y="2807335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080279" y="5240017"/>
            <a:ext cx="1941462" cy="25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Favorites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80279" y="5570420"/>
            <a:ext cx="5023094" cy="22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Таблица избранного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80279" y="5860037"/>
            <a:ext cx="5023094" cy="62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id_favorite (PK) — уникальный идентификатор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id_user (FK) — ссылка на пользователя</a:t>
            </a:r>
          </a:p>
          <a:p>
            <a:pPr algn="l" marL="179090" indent="-89545" lvl="1">
              <a:lnSpc>
                <a:spcPts val="1562"/>
              </a:lnSpc>
              <a:buFont typeface="Arial"/>
              <a:buChar char="•"/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id_restaurant (FK) — ссылка на заведение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80279" y="6553733"/>
            <a:ext cx="5023094" cy="42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Связывает пользователей с их избранными заведениями для быстрого доступа.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019577" y="7584586"/>
            <a:ext cx="12248702" cy="714670"/>
            <a:chOff x="0" y="0"/>
            <a:chExt cx="16331603" cy="95289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331692" cy="953008"/>
            </a:xfrm>
            <a:custGeom>
              <a:avLst/>
              <a:gdLst/>
              <a:ahLst/>
              <a:cxnLst/>
              <a:rect r="r" b="b" t="t" l="l"/>
              <a:pathLst>
                <a:path h="953008" w="16331692">
                  <a:moveTo>
                    <a:pt x="0" y="31115"/>
                  </a:moveTo>
                  <a:cubicBezTo>
                    <a:pt x="0" y="13970"/>
                    <a:pt x="13970" y="0"/>
                    <a:pt x="31115" y="0"/>
                  </a:cubicBezTo>
                  <a:lnTo>
                    <a:pt x="16300577" y="0"/>
                  </a:lnTo>
                  <a:cubicBezTo>
                    <a:pt x="16317722" y="0"/>
                    <a:pt x="16331692" y="13970"/>
                    <a:pt x="16331692" y="31115"/>
                  </a:cubicBezTo>
                  <a:lnTo>
                    <a:pt x="16331692" y="921893"/>
                  </a:lnTo>
                  <a:cubicBezTo>
                    <a:pt x="16331692" y="939038"/>
                    <a:pt x="16317722" y="953008"/>
                    <a:pt x="16300577" y="953008"/>
                  </a:cubicBezTo>
                  <a:lnTo>
                    <a:pt x="31115" y="953008"/>
                  </a:lnTo>
                  <a:cubicBezTo>
                    <a:pt x="13970" y="952881"/>
                    <a:pt x="0" y="939038"/>
                    <a:pt x="0" y="921893"/>
                  </a:cubicBezTo>
                  <a:close/>
                </a:path>
              </a:pathLst>
            </a:custGeom>
            <a:solidFill>
              <a:srgbClr val="DBDBD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174797" y="7804547"/>
            <a:ext cx="194072" cy="155229"/>
            <a:chOff x="0" y="0"/>
            <a:chExt cx="258762" cy="206972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258826" cy="207010"/>
            </a:xfrm>
            <a:custGeom>
              <a:avLst/>
              <a:gdLst/>
              <a:ahLst/>
              <a:cxnLst/>
              <a:rect r="r" b="b" t="t" l="l"/>
              <a:pathLst>
                <a:path h="207010" w="258826">
                  <a:moveTo>
                    <a:pt x="0" y="0"/>
                  </a:moveTo>
                  <a:lnTo>
                    <a:pt x="258826" y="0"/>
                  </a:lnTo>
                  <a:lnTo>
                    <a:pt x="258826" y="207010"/>
                  </a:lnTo>
                  <a:lnTo>
                    <a:pt x="0" y="207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" r="24" b="12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3524098" y="7701410"/>
            <a:ext cx="11588953" cy="43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87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Связи между таблицами:</a:t>
            </a:r>
            <a:r>
              <a:rPr lang="en-US" sz="11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Реализованы связи «один ко многим» (Users → Reviews, Users → Favorites, Restaurants → Reviews) и «многие ко многим» (Users ↔ Restaurants через Favorites). Внешние ключи обеспечивают ссылочную целостность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3065" y="397221"/>
            <a:ext cx="4229843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Архитектура приложения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53065" y="899370"/>
            <a:ext cx="9781880" cy="45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Приложение построено по современной клиент-серверной архитектуре, которая обеспечивает разделение логики представления и бизнес-логики, масштабируемость системы и возможность независимой разработки компонентов. Архитектура спроектирована с учётом требований к производительности, безопасности и удобству поддержки.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694759" y="1424578"/>
            <a:ext cx="6898481" cy="5322389"/>
            <a:chOff x="0" y="0"/>
            <a:chExt cx="9197975" cy="70965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97975" cy="7096506"/>
            </a:xfrm>
            <a:custGeom>
              <a:avLst/>
              <a:gdLst/>
              <a:ahLst/>
              <a:cxnLst/>
              <a:rect r="r" b="b" t="t" l="l"/>
              <a:pathLst>
                <a:path h="7096506" w="9197975">
                  <a:moveTo>
                    <a:pt x="0" y="0"/>
                  </a:moveTo>
                  <a:lnTo>
                    <a:pt x="9197975" y="0"/>
                  </a:lnTo>
                  <a:lnTo>
                    <a:pt x="9197975" y="7096506"/>
                  </a:lnTo>
                  <a:lnTo>
                    <a:pt x="0" y="7096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" r="0" b="-3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33619" y="3492675"/>
            <a:ext cx="1203131" cy="111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Пятикомпонентная архитектура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17186" y="5329009"/>
            <a:ext cx="1789871" cy="56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Серверная часть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17186" y="6005103"/>
            <a:ext cx="1789871" cy="30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0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Бизнес-логика и обработка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80633" y="3650856"/>
            <a:ext cx="1829000" cy="56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Картографический сервис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80633" y="4326950"/>
            <a:ext cx="1829000" cy="13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0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Геоданные и карты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33813" y="5466559"/>
            <a:ext cx="1789871" cy="29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База данных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33813" y="5867543"/>
            <a:ext cx="1789871" cy="30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0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Хранение и запросы данных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60584" y="3696100"/>
            <a:ext cx="1829000" cy="29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API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60584" y="4097083"/>
            <a:ext cx="1829000" cy="30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0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Интерфейс взаимодействия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81480" y="1724501"/>
            <a:ext cx="1838782" cy="56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Клиентская часть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81480" y="2400595"/>
            <a:ext cx="1838782" cy="30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0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Мобильное и веб-приложение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53065" y="6807098"/>
            <a:ext cx="9781880" cy="15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Взаимодействие компонентов обеспечивает быстрый отклик системы и надёжную обработку запросов пользователей.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253065" y="7034955"/>
            <a:ext cx="3219298" cy="1668361"/>
            <a:chOff x="0" y="0"/>
            <a:chExt cx="4292397" cy="22244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92346" cy="2224405"/>
            </a:xfrm>
            <a:custGeom>
              <a:avLst/>
              <a:gdLst/>
              <a:ahLst/>
              <a:cxnLst/>
              <a:rect r="r" b="b" t="t" l="l"/>
              <a:pathLst>
                <a:path h="2224405" w="429234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4267581" y="0"/>
                  </a:lnTo>
                  <a:cubicBezTo>
                    <a:pt x="4281297" y="0"/>
                    <a:pt x="4292346" y="11049"/>
                    <a:pt x="4292346" y="24765"/>
                  </a:cubicBezTo>
                  <a:lnTo>
                    <a:pt x="4292346" y="2199640"/>
                  </a:lnTo>
                  <a:cubicBezTo>
                    <a:pt x="4292346" y="2213356"/>
                    <a:pt x="4281297" y="2224405"/>
                    <a:pt x="4267581" y="2224405"/>
                  </a:cubicBezTo>
                  <a:lnTo>
                    <a:pt x="24765" y="2224405"/>
                  </a:lnTo>
                  <a:cubicBezTo>
                    <a:pt x="11049" y="2224405"/>
                    <a:pt x="0" y="2213356"/>
                    <a:pt x="0" y="219964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377033" y="7139883"/>
            <a:ext cx="1550489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Клиентская часть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77033" y="7380389"/>
            <a:ext cx="2971352" cy="119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Мобильное или веб-приложение, предоставляющее пользовательский интерфейс. Отвечает за отображение данных, обработку пользовательского ввода, валидацию форм на стороне клиента. Реализует адаптивный дизайн для различных устройств и размеров экранов. Использует современные фреймворки для обеспечения плавной работы интерфейса.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534275" y="7034955"/>
            <a:ext cx="3219298" cy="1668361"/>
            <a:chOff x="0" y="0"/>
            <a:chExt cx="4292397" cy="22244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92346" cy="2224405"/>
            </a:xfrm>
            <a:custGeom>
              <a:avLst/>
              <a:gdLst/>
              <a:ahLst/>
              <a:cxnLst/>
              <a:rect r="r" b="b" t="t" l="l"/>
              <a:pathLst>
                <a:path h="2224405" w="4292346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4267581" y="0"/>
                  </a:lnTo>
                  <a:cubicBezTo>
                    <a:pt x="4281297" y="0"/>
                    <a:pt x="4292346" y="11049"/>
                    <a:pt x="4292346" y="24765"/>
                  </a:cubicBezTo>
                  <a:lnTo>
                    <a:pt x="4292346" y="2199640"/>
                  </a:lnTo>
                  <a:cubicBezTo>
                    <a:pt x="4292346" y="2213356"/>
                    <a:pt x="4281297" y="2224405"/>
                    <a:pt x="4267581" y="2224405"/>
                  </a:cubicBezTo>
                  <a:lnTo>
                    <a:pt x="24765" y="2224405"/>
                  </a:lnTo>
                  <a:cubicBezTo>
                    <a:pt x="11049" y="2224405"/>
                    <a:pt x="0" y="2213356"/>
                    <a:pt x="0" y="219964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658252" y="7139883"/>
            <a:ext cx="1550489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Серверная часть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58252" y="7380389"/>
            <a:ext cx="2971352" cy="105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Backend-компонент, содержащий бизнес-логику приложения. Обрабатывает запросы от клиента, выполняет операции с базой данных, реализует алгоритмы поиска и фильтрации, управляет аутентификацией и авторизацией. Обеспечивает безопасность данных и контроль доступа на уровне сервера.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815485" y="7034955"/>
            <a:ext cx="3219450" cy="1668361"/>
            <a:chOff x="0" y="0"/>
            <a:chExt cx="4292600" cy="222448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92600" cy="2224405"/>
            </a:xfrm>
            <a:custGeom>
              <a:avLst/>
              <a:gdLst/>
              <a:ahLst/>
              <a:cxnLst/>
              <a:rect r="r" b="b" t="t" l="l"/>
              <a:pathLst>
                <a:path h="2224405" w="4292600">
                  <a:moveTo>
                    <a:pt x="0" y="24765"/>
                  </a:moveTo>
                  <a:cubicBezTo>
                    <a:pt x="0" y="11049"/>
                    <a:pt x="11049" y="0"/>
                    <a:pt x="24765" y="0"/>
                  </a:cubicBezTo>
                  <a:lnTo>
                    <a:pt x="4267835" y="0"/>
                  </a:lnTo>
                  <a:cubicBezTo>
                    <a:pt x="4281551" y="0"/>
                    <a:pt x="4292600" y="11049"/>
                    <a:pt x="4292600" y="24765"/>
                  </a:cubicBezTo>
                  <a:lnTo>
                    <a:pt x="4292600" y="2199640"/>
                  </a:lnTo>
                  <a:cubicBezTo>
                    <a:pt x="4292600" y="2213356"/>
                    <a:pt x="4281551" y="2224405"/>
                    <a:pt x="4267835" y="2224405"/>
                  </a:cubicBezTo>
                  <a:lnTo>
                    <a:pt x="24765" y="2224405"/>
                  </a:lnTo>
                  <a:cubicBezTo>
                    <a:pt x="11049" y="2224405"/>
                    <a:pt x="0" y="2213356"/>
                    <a:pt x="0" y="2199640"/>
                  </a:cubicBezTo>
                  <a:close/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939462" y="7139883"/>
            <a:ext cx="1550489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База данных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39462" y="7380389"/>
            <a:ext cx="2971505" cy="119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Централизованное хранилище всех данных приложения: информация о пользователях, заведениях, отзывах и избранных местах. Использует реляционную модель для обеспечения целостности данных. Оптимизирована для быстрого выполнения запросов поиска и выборки с использованием индексов.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53065" y="8815835"/>
            <a:ext cx="2814190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API (Application Programming Interface)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53065" y="9081049"/>
            <a:ext cx="4739726" cy="75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REST API обеспечивает стандартизированный обмен данными между клиентом и сервером. Использует JSON-формат для передачи данных, HTTP-методы для определения типа операций (GET, POST, PUT, DELETE). Включает механизмы аутентификации (токены доступа) и обработки ошибок. Документирован для упрощения разработки и интеграции.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04734" y="8815835"/>
            <a:ext cx="2160537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87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Картографический сервис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04734" y="9081049"/>
            <a:ext cx="4739726" cy="75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Интеграция с внешними картографическими API (Google Maps, Яндекс.Карты) для отображения заведений на карте, определения геолокации пользователя, построения маршрутов и расчёта расстояний. Обеспечивает визуализацию данных в географическом контексте и улучшает пользовательский опыт при поиске ближайших заведений.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60834" y="1066648"/>
            <a:ext cx="6112964" cy="667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Технологический стек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0834" y="2043265"/>
            <a:ext cx="16366331" cy="64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Выбор технологий обусловлен требованиями к производительности, масштабируемости, безопасности и скорости разработки. Каждый компонент стека проверен в промышленной эксплуатации и имеет активное сообщество разработчиков.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1666" y="2889047"/>
            <a:ext cx="373266" cy="409727"/>
            <a:chOff x="0" y="0"/>
            <a:chExt cx="497688" cy="5463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7713" cy="546354"/>
            </a:xfrm>
            <a:custGeom>
              <a:avLst/>
              <a:gdLst/>
              <a:ahLst/>
              <a:cxnLst/>
              <a:rect r="r" b="b" t="t" l="l"/>
              <a:pathLst>
                <a:path h="546354" w="497713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406273" y="0"/>
                  </a:lnTo>
                  <a:cubicBezTo>
                    <a:pt x="456819" y="0"/>
                    <a:pt x="497713" y="40894"/>
                    <a:pt x="497713" y="91440"/>
                  </a:cubicBezTo>
                  <a:lnTo>
                    <a:pt x="497713" y="454914"/>
                  </a:lnTo>
                  <a:cubicBezTo>
                    <a:pt x="497713" y="505460"/>
                    <a:pt x="456819" y="546354"/>
                    <a:pt x="406273" y="546354"/>
                  </a:cubicBezTo>
                  <a:lnTo>
                    <a:pt x="91440" y="546354"/>
                  </a:lnTo>
                  <a:cubicBezTo>
                    <a:pt x="40894" y="546354"/>
                    <a:pt x="0" y="505460"/>
                    <a:pt x="0" y="454914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64571" y="3007671"/>
            <a:ext cx="207464" cy="165945"/>
            <a:chOff x="0" y="0"/>
            <a:chExt cx="276619" cy="22125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76606" cy="221234"/>
            </a:xfrm>
            <a:custGeom>
              <a:avLst/>
              <a:gdLst/>
              <a:ahLst/>
              <a:cxnLst/>
              <a:rect r="r" b="b" t="t" l="l"/>
              <a:pathLst>
                <a:path h="221234" w="276606">
                  <a:moveTo>
                    <a:pt x="0" y="0"/>
                  </a:moveTo>
                  <a:lnTo>
                    <a:pt x="276606" y="0"/>
                  </a:lnTo>
                  <a:lnTo>
                    <a:pt x="276606" y="221234"/>
                  </a:lnTo>
                  <a:lnTo>
                    <a:pt x="0" y="22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53" t="0" r="-1763" b="-1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60834" y="3499542"/>
            <a:ext cx="335339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Мобильное приложение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34" y="3908669"/>
            <a:ext cx="8074666" cy="9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React Native или Flutter для кроссплатформенной разработки (iOS и Android). Альтернативно — нативная разработка на Kotlin (Android) и Swift (iOS) для максимальной производительности.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73330" y="2889047"/>
            <a:ext cx="373266" cy="409727"/>
            <a:chOff x="0" y="0"/>
            <a:chExt cx="497688" cy="5463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713" cy="546354"/>
            </a:xfrm>
            <a:custGeom>
              <a:avLst/>
              <a:gdLst/>
              <a:ahLst/>
              <a:cxnLst/>
              <a:rect r="r" b="b" t="t" l="l"/>
              <a:pathLst>
                <a:path h="546354" w="497713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406273" y="0"/>
                  </a:lnTo>
                  <a:cubicBezTo>
                    <a:pt x="456819" y="0"/>
                    <a:pt x="497713" y="40894"/>
                    <a:pt x="497713" y="91440"/>
                  </a:cubicBezTo>
                  <a:lnTo>
                    <a:pt x="497713" y="454914"/>
                  </a:lnTo>
                  <a:cubicBezTo>
                    <a:pt x="497713" y="505460"/>
                    <a:pt x="456819" y="546354"/>
                    <a:pt x="406273" y="546354"/>
                  </a:cubicBezTo>
                  <a:lnTo>
                    <a:pt x="91440" y="546354"/>
                  </a:lnTo>
                  <a:cubicBezTo>
                    <a:pt x="40894" y="546354"/>
                    <a:pt x="0" y="505460"/>
                    <a:pt x="0" y="454914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56227" y="3007671"/>
            <a:ext cx="207464" cy="165945"/>
            <a:chOff x="0" y="0"/>
            <a:chExt cx="276619" cy="221259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76606" cy="221234"/>
            </a:xfrm>
            <a:custGeom>
              <a:avLst/>
              <a:gdLst/>
              <a:ahLst/>
              <a:cxnLst/>
              <a:rect r="r" b="b" t="t" l="l"/>
              <a:pathLst>
                <a:path h="221234" w="276606">
                  <a:moveTo>
                    <a:pt x="0" y="0"/>
                  </a:moveTo>
                  <a:lnTo>
                    <a:pt x="276606" y="0"/>
                  </a:lnTo>
                  <a:lnTo>
                    <a:pt x="276606" y="221234"/>
                  </a:lnTo>
                  <a:lnTo>
                    <a:pt x="0" y="22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53" t="0" r="-1763" b="-1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252499" y="3499542"/>
            <a:ext cx="2594219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Веб-приложение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52499" y="3908669"/>
            <a:ext cx="8074666" cy="9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React.js или Vue.js для создания современного интерактивного интерфейса. TypeScript для типизации и повышения надёжности кода. Responsive дизайн для адаптации под разные устройства.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1666" y="5211366"/>
            <a:ext cx="373266" cy="409727"/>
            <a:chOff x="0" y="0"/>
            <a:chExt cx="497688" cy="5463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7713" cy="546354"/>
            </a:xfrm>
            <a:custGeom>
              <a:avLst/>
              <a:gdLst/>
              <a:ahLst/>
              <a:cxnLst/>
              <a:rect r="r" b="b" t="t" l="l"/>
              <a:pathLst>
                <a:path h="546354" w="497713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406273" y="0"/>
                  </a:lnTo>
                  <a:cubicBezTo>
                    <a:pt x="456819" y="0"/>
                    <a:pt x="497713" y="40894"/>
                    <a:pt x="497713" y="91440"/>
                  </a:cubicBezTo>
                  <a:lnTo>
                    <a:pt x="497713" y="454914"/>
                  </a:lnTo>
                  <a:cubicBezTo>
                    <a:pt x="497713" y="505460"/>
                    <a:pt x="456819" y="546354"/>
                    <a:pt x="406273" y="546354"/>
                  </a:cubicBezTo>
                  <a:lnTo>
                    <a:pt x="91440" y="546354"/>
                  </a:lnTo>
                  <a:cubicBezTo>
                    <a:pt x="40894" y="546354"/>
                    <a:pt x="0" y="505460"/>
                    <a:pt x="0" y="454914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64571" y="5329980"/>
            <a:ext cx="207464" cy="165945"/>
            <a:chOff x="0" y="0"/>
            <a:chExt cx="276619" cy="221259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276606" cy="221234"/>
            </a:xfrm>
            <a:custGeom>
              <a:avLst/>
              <a:gdLst/>
              <a:ahLst/>
              <a:cxnLst/>
              <a:rect r="r" b="b" t="t" l="l"/>
              <a:pathLst>
                <a:path h="221234" w="276606">
                  <a:moveTo>
                    <a:pt x="0" y="0"/>
                  </a:moveTo>
                  <a:lnTo>
                    <a:pt x="276606" y="0"/>
                  </a:lnTo>
                  <a:lnTo>
                    <a:pt x="276606" y="221234"/>
                  </a:lnTo>
                  <a:lnTo>
                    <a:pt x="0" y="22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53" t="0" r="-1763" b="-11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0834" y="5821861"/>
            <a:ext cx="2594219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Backend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0834" y="6230988"/>
            <a:ext cx="8074666" cy="9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Node.js с Express.js или Python с Django/FastAPI. Обработка асинхронных запросов, реализация REST API, управление сессиями и аутентификацией пользователей.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73330" y="5211366"/>
            <a:ext cx="373266" cy="409727"/>
            <a:chOff x="0" y="0"/>
            <a:chExt cx="497688" cy="5463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7713" cy="546354"/>
            </a:xfrm>
            <a:custGeom>
              <a:avLst/>
              <a:gdLst/>
              <a:ahLst/>
              <a:cxnLst/>
              <a:rect r="r" b="b" t="t" l="l"/>
              <a:pathLst>
                <a:path h="546354" w="497713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406273" y="0"/>
                  </a:lnTo>
                  <a:cubicBezTo>
                    <a:pt x="456819" y="0"/>
                    <a:pt x="497713" y="40894"/>
                    <a:pt x="497713" y="91440"/>
                  </a:cubicBezTo>
                  <a:lnTo>
                    <a:pt x="497713" y="454914"/>
                  </a:lnTo>
                  <a:cubicBezTo>
                    <a:pt x="497713" y="505460"/>
                    <a:pt x="456819" y="546354"/>
                    <a:pt x="406273" y="546354"/>
                  </a:cubicBezTo>
                  <a:lnTo>
                    <a:pt x="91440" y="546354"/>
                  </a:lnTo>
                  <a:cubicBezTo>
                    <a:pt x="40894" y="546354"/>
                    <a:pt x="0" y="505460"/>
                    <a:pt x="0" y="454914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56227" y="5329980"/>
            <a:ext cx="207464" cy="165945"/>
            <a:chOff x="0" y="0"/>
            <a:chExt cx="276619" cy="221259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276606" cy="221234"/>
            </a:xfrm>
            <a:custGeom>
              <a:avLst/>
              <a:gdLst/>
              <a:ahLst/>
              <a:cxnLst/>
              <a:rect r="r" b="b" t="t" l="l"/>
              <a:pathLst>
                <a:path h="221234" w="276606">
                  <a:moveTo>
                    <a:pt x="0" y="0"/>
                  </a:moveTo>
                  <a:lnTo>
                    <a:pt x="276606" y="0"/>
                  </a:lnTo>
                  <a:lnTo>
                    <a:pt x="276606" y="221234"/>
                  </a:lnTo>
                  <a:lnTo>
                    <a:pt x="0" y="22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53" t="0" r="-1763" b="-11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52499" y="5821861"/>
            <a:ext cx="2594219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База данных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52499" y="6230988"/>
            <a:ext cx="8074666" cy="95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PostgreSQL для реляционных данных с поддержкой сложных запросов. Redis для кеширования часто запрашиваемых данных и улучшения производительности поиска.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1666" y="7533684"/>
            <a:ext cx="373266" cy="409727"/>
            <a:chOff x="0" y="0"/>
            <a:chExt cx="497688" cy="5463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7713" cy="546354"/>
            </a:xfrm>
            <a:custGeom>
              <a:avLst/>
              <a:gdLst/>
              <a:ahLst/>
              <a:cxnLst/>
              <a:rect r="r" b="b" t="t" l="l"/>
              <a:pathLst>
                <a:path h="546354" w="497713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406273" y="0"/>
                  </a:lnTo>
                  <a:cubicBezTo>
                    <a:pt x="456819" y="0"/>
                    <a:pt x="497713" y="40894"/>
                    <a:pt x="497713" y="91440"/>
                  </a:cubicBezTo>
                  <a:lnTo>
                    <a:pt x="497713" y="454914"/>
                  </a:lnTo>
                  <a:cubicBezTo>
                    <a:pt x="497713" y="505460"/>
                    <a:pt x="456819" y="546354"/>
                    <a:pt x="406273" y="546354"/>
                  </a:cubicBezTo>
                  <a:lnTo>
                    <a:pt x="91440" y="546354"/>
                  </a:lnTo>
                  <a:cubicBezTo>
                    <a:pt x="40894" y="546354"/>
                    <a:pt x="0" y="505460"/>
                    <a:pt x="0" y="454914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64571" y="7652299"/>
            <a:ext cx="207464" cy="165945"/>
            <a:chOff x="0" y="0"/>
            <a:chExt cx="276619" cy="221259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76606" cy="221234"/>
            </a:xfrm>
            <a:custGeom>
              <a:avLst/>
              <a:gdLst/>
              <a:ahLst/>
              <a:cxnLst/>
              <a:rect r="r" b="b" t="t" l="l"/>
              <a:pathLst>
                <a:path h="221234" w="276606">
                  <a:moveTo>
                    <a:pt x="0" y="0"/>
                  </a:moveTo>
                  <a:lnTo>
                    <a:pt x="276606" y="0"/>
                  </a:lnTo>
                  <a:lnTo>
                    <a:pt x="276606" y="221234"/>
                  </a:lnTo>
                  <a:lnTo>
                    <a:pt x="0" y="22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53" t="0" r="-1763" b="-11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60834" y="8144170"/>
            <a:ext cx="2594219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Картография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0834" y="8553298"/>
            <a:ext cx="8074666" cy="64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Google Maps API или Яндекс.Карты API для отображения заведений на карте, геокодирования адресов и построения маршрутов. Leaflet.js для веб-версии.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273330" y="7533684"/>
            <a:ext cx="373266" cy="409727"/>
            <a:chOff x="0" y="0"/>
            <a:chExt cx="497688" cy="5463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7713" cy="546354"/>
            </a:xfrm>
            <a:custGeom>
              <a:avLst/>
              <a:gdLst/>
              <a:ahLst/>
              <a:cxnLst/>
              <a:rect r="r" b="b" t="t" l="l"/>
              <a:pathLst>
                <a:path h="546354" w="497713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406273" y="0"/>
                  </a:lnTo>
                  <a:cubicBezTo>
                    <a:pt x="456819" y="0"/>
                    <a:pt x="497713" y="40894"/>
                    <a:pt x="497713" y="91440"/>
                  </a:cubicBezTo>
                  <a:lnTo>
                    <a:pt x="497713" y="454914"/>
                  </a:lnTo>
                  <a:cubicBezTo>
                    <a:pt x="497713" y="505460"/>
                    <a:pt x="456819" y="546354"/>
                    <a:pt x="406273" y="546354"/>
                  </a:cubicBezTo>
                  <a:lnTo>
                    <a:pt x="91440" y="546354"/>
                  </a:lnTo>
                  <a:cubicBezTo>
                    <a:pt x="40894" y="546354"/>
                    <a:pt x="0" y="505460"/>
                    <a:pt x="0" y="454914"/>
                  </a:cubicBez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56227" y="7652299"/>
            <a:ext cx="207464" cy="165945"/>
            <a:chOff x="0" y="0"/>
            <a:chExt cx="276619" cy="221259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276606" cy="221234"/>
            </a:xfrm>
            <a:custGeom>
              <a:avLst/>
              <a:gdLst/>
              <a:ahLst/>
              <a:cxnLst/>
              <a:rect r="r" b="b" t="t" l="l"/>
              <a:pathLst>
                <a:path h="221234" w="276606">
                  <a:moveTo>
                    <a:pt x="0" y="0"/>
                  </a:moveTo>
                  <a:lnTo>
                    <a:pt x="276606" y="0"/>
                  </a:lnTo>
                  <a:lnTo>
                    <a:pt x="276606" y="221234"/>
                  </a:lnTo>
                  <a:lnTo>
                    <a:pt x="0" y="221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53" t="0" r="-1763" b="-11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252499" y="8144170"/>
            <a:ext cx="2594219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Безопасность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252499" y="8553298"/>
            <a:ext cx="8074666" cy="64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JWT (JSON Web Tokens) для аутентификации, HTTPS для шифрования трафика, bcrypt для хеширования паролей, защита от SQL-инъекций и XSS-атак.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77488" y="1325909"/>
            <a:ext cx="1392136" cy="304800"/>
            <a:chOff x="0" y="0"/>
            <a:chExt cx="185618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6232" cy="406400"/>
            </a:xfrm>
            <a:custGeom>
              <a:avLst/>
              <a:gdLst/>
              <a:ahLst/>
              <a:cxnLst/>
              <a:rect r="r" b="b" t="t" l="l"/>
              <a:pathLst>
                <a:path h="406400" w="1856232">
                  <a:moveTo>
                    <a:pt x="0" y="28702"/>
                  </a:moveTo>
                  <a:cubicBezTo>
                    <a:pt x="0" y="12827"/>
                    <a:pt x="12827" y="0"/>
                    <a:pt x="28702" y="0"/>
                  </a:cubicBezTo>
                  <a:lnTo>
                    <a:pt x="1827530" y="0"/>
                  </a:lnTo>
                  <a:cubicBezTo>
                    <a:pt x="1843405" y="0"/>
                    <a:pt x="1856232" y="12827"/>
                    <a:pt x="1856232" y="28702"/>
                  </a:cubicBezTo>
                  <a:lnTo>
                    <a:pt x="1856232" y="377698"/>
                  </a:lnTo>
                  <a:cubicBezTo>
                    <a:pt x="1856232" y="393573"/>
                    <a:pt x="1843405" y="406400"/>
                    <a:pt x="1827530" y="406400"/>
                  </a:cubicBezTo>
                  <a:lnTo>
                    <a:pt x="28702" y="406400"/>
                  </a:lnTo>
                  <a:cubicBezTo>
                    <a:pt x="12827" y="406400"/>
                    <a:pt x="0" y="393573"/>
                    <a:pt x="0" y="377698"/>
                  </a:cubicBezTo>
                  <a:close/>
                </a:path>
              </a:pathLst>
            </a:custGeom>
            <a:solidFill>
              <a:srgbClr val="E7E7E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84949" y="1360589"/>
            <a:ext cx="1177233" cy="21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1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ПРЕИМУЩЕСТВА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7488" y="1663303"/>
            <a:ext cx="8305352" cy="57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Ключевые преимущества решения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7488" y="2514752"/>
            <a:ext cx="7576395" cy="77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Приложение предлагает уникальное сочетание функциональности, удобства использования и технической надёжности, которое выделяет его среди аналогичных решений на рынке.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077488" y="3534223"/>
            <a:ext cx="89592" cy="89592"/>
            <a:chOff x="0" y="0"/>
            <a:chExt cx="119456" cy="1194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380" cy="119380"/>
            </a:xfrm>
            <a:custGeom>
              <a:avLst/>
              <a:gdLst/>
              <a:ahLst/>
              <a:cxnLst/>
              <a:rect r="r" b="b" t="t" l="l"/>
              <a:pathLst>
                <a:path h="119380" w="119380">
                  <a:moveTo>
                    <a:pt x="0" y="59690"/>
                  </a:moveTo>
                  <a:cubicBezTo>
                    <a:pt x="0" y="26797"/>
                    <a:pt x="26797" y="0"/>
                    <a:pt x="59690" y="0"/>
                  </a:cubicBezTo>
                  <a:cubicBezTo>
                    <a:pt x="92583" y="0"/>
                    <a:pt x="119380" y="26797"/>
                    <a:pt x="119380" y="59690"/>
                  </a:cubicBezTo>
                  <a:cubicBezTo>
                    <a:pt x="119380" y="92583"/>
                    <a:pt x="92583" y="119380"/>
                    <a:pt x="59690" y="119380"/>
                  </a:cubicBezTo>
                  <a:cubicBezTo>
                    <a:pt x="26797" y="119380"/>
                    <a:pt x="0" y="92710"/>
                    <a:pt x="0" y="5969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296420" y="3429591"/>
            <a:ext cx="2398071" cy="28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Комплексный поиск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96420" y="3810295"/>
            <a:ext cx="7357472" cy="77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Множественные критерии фильтрации (кухня, цена, рейтинг, местоположение) позволяют точно найти заведение, соответствующее потребностям пользователя. Интеллектуальные алгоритмы ранжирования результатов.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077488" y="4943027"/>
            <a:ext cx="89592" cy="89592"/>
            <a:chOff x="0" y="0"/>
            <a:chExt cx="119456" cy="1194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380" cy="119380"/>
            </a:xfrm>
            <a:custGeom>
              <a:avLst/>
              <a:gdLst/>
              <a:ahLst/>
              <a:cxnLst/>
              <a:rect r="r" b="b" t="t" l="l"/>
              <a:pathLst>
                <a:path h="119380" w="119380">
                  <a:moveTo>
                    <a:pt x="0" y="59690"/>
                  </a:moveTo>
                  <a:cubicBezTo>
                    <a:pt x="0" y="26797"/>
                    <a:pt x="26797" y="0"/>
                    <a:pt x="59690" y="0"/>
                  </a:cubicBezTo>
                  <a:cubicBezTo>
                    <a:pt x="92583" y="0"/>
                    <a:pt x="119380" y="26797"/>
                    <a:pt x="119380" y="59690"/>
                  </a:cubicBezTo>
                  <a:cubicBezTo>
                    <a:pt x="119380" y="92583"/>
                    <a:pt x="92583" y="119380"/>
                    <a:pt x="59690" y="119380"/>
                  </a:cubicBezTo>
                  <a:cubicBezTo>
                    <a:pt x="26797" y="119380"/>
                    <a:pt x="0" y="92710"/>
                    <a:pt x="0" y="5969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296420" y="4838405"/>
            <a:ext cx="3242072" cy="28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Актуальность информации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96420" y="5219109"/>
            <a:ext cx="7357472" cy="77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Регулярное обновление данных о заведениях, времени работы и меню. Модерация отзывов обеспечивает достоверность информации и защиту от недобросовестных оценок.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077488" y="6351832"/>
            <a:ext cx="89592" cy="89592"/>
            <a:chOff x="0" y="0"/>
            <a:chExt cx="119456" cy="1194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380" cy="119380"/>
            </a:xfrm>
            <a:custGeom>
              <a:avLst/>
              <a:gdLst/>
              <a:ahLst/>
              <a:cxnLst/>
              <a:rect r="r" b="b" t="t" l="l"/>
              <a:pathLst>
                <a:path h="119380" w="119380">
                  <a:moveTo>
                    <a:pt x="0" y="59690"/>
                  </a:moveTo>
                  <a:cubicBezTo>
                    <a:pt x="0" y="26797"/>
                    <a:pt x="26797" y="0"/>
                    <a:pt x="59690" y="0"/>
                  </a:cubicBezTo>
                  <a:cubicBezTo>
                    <a:pt x="92583" y="0"/>
                    <a:pt x="119380" y="26797"/>
                    <a:pt x="119380" y="59690"/>
                  </a:cubicBezTo>
                  <a:cubicBezTo>
                    <a:pt x="119380" y="92583"/>
                    <a:pt x="92583" y="119380"/>
                    <a:pt x="59690" y="119380"/>
                  </a:cubicBezTo>
                  <a:cubicBezTo>
                    <a:pt x="26797" y="119380"/>
                    <a:pt x="0" y="92710"/>
                    <a:pt x="0" y="5969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296420" y="6247209"/>
            <a:ext cx="2240166" cy="28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Персонализация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96420" y="6627914"/>
            <a:ext cx="7357472" cy="77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Система избранного и история поиска помогают пользователям быстро возвращаться к интересующим заведениям. Рекомендации на основе предпочтений и поведения пользователя.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077488" y="7760646"/>
            <a:ext cx="89592" cy="89592"/>
            <a:chOff x="0" y="0"/>
            <a:chExt cx="119456" cy="1194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9380" cy="119380"/>
            </a:xfrm>
            <a:custGeom>
              <a:avLst/>
              <a:gdLst/>
              <a:ahLst/>
              <a:cxnLst/>
              <a:rect r="r" b="b" t="t" l="l"/>
              <a:pathLst>
                <a:path h="119380" w="119380">
                  <a:moveTo>
                    <a:pt x="0" y="59690"/>
                  </a:moveTo>
                  <a:cubicBezTo>
                    <a:pt x="0" y="26797"/>
                    <a:pt x="26797" y="0"/>
                    <a:pt x="59690" y="0"/>
                  </a:cubicBezTo>
                  <a:cubicBezTo>
                    <a:pt x="92583" y="0"/>
                    <a:pt x="119380" y="26797"/>
                    <a:pt x="119380" y="59690"/>
                  </a:cubicBezTo>
                  <a:cubicBezTo>
                    <a:pt x="119380" y="92583"/>
                    <a:pt x="92583" y="119380"/>
                    <a:pt x="59690" y="119380"/>
                  </a:cubicBezTo>
                  <a:cubicBezTo>
                    <a:pt x="26797" y="119380"/>
                    <a:pt x="0" y="92710"/>
                    <a:pt x="0" y="5969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296420" y="7656014"/>
            <a:ext cx="2311298" cy="28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Удобная навигация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96420" y="8036719"/>
            <a:ext cx="7357472" cy="77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Интеграция с картами и геолокацией упрощает поиск ближайших заведений. Построение маршрутов и отображение времени в пути помогают планировать посещение.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971637" y="2436466"/>
            <a:ext cx="6377435" cy="6524625"/>
            <a:chOff x="0" y="0"/>
            <a:chExt cx="8503247" cy="8699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03412" cy="8699500"/>
            </a:xfrm>
            <a:custGeom>
              <a:avLst/>
              <a:gdLst/>
              <a:ahLst/>
              <a:cxnLst/>
              <a:rect r="r" b="b" t="t" l="l"/>
              <a:pathLst>
                <a:path h="8699500" w="8503412">
                  <a:moveTo>
                    <a:pt x="0" y="35941"/>
                  </a:moveTo>
                  <a:cubicBezTo>
                    <a:pt x="0" y="16129"/>
                    <a:pt x="16129" y="0"/>
                    <a:pt x="35941" y="0"/>
                  </a:cubicBezTo>
                  <a:lnTo>
                    <a:pt x="8467472" y="0"/>
                  </a:lnTo>
                  <a:cubicBezTo>
                    <a:pt x="8487283" y="0"/>
                    <a:pt x="8503412" y="16129"/>
                    <a:pt x="8503412" y="35941"/>
                  </a:cubicBezTo>
                  <a:lnTo>
                    <a:pt x="8503412" y="8663559"/>
                  </a:lnTo>
                  <a:cubicBezTo>
                    <a:pt x="8503412" y="8683371"/>
                    <a:pt x="8487283" y="8699500"/>
                    <a:pt x="8467472" y="8699500"/>
                  </a:cubicBezTo>
                  <a:lnTo>
                    <a:pt x="35941" y="8699500"/>
                  </a:lnTo>
                  <a:cubicBezTo>
                    <a:pt x="16129" y="8699500"/>
                    <a:pt x="0" y="8683371"/>
                    <a:pt x="0" y="866355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150821" y="2556272"/>
            <a:ext cx="2348808" cy="28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Социальный аспект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50821" y="2936977"/>
            <a:ext cx="6019057" cy="53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Система отзывов и рейтингов создаёт сообщество пользователей, делящихся опытом посещения заведений.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150821" y="3704044"/>
            <a:ext cx="6019057" cy="31852"/>
            <a:chOff x="0" y="0"/>
            <a:chExt cx="8025409" cy="424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25384" cy="42418"/>
            </a:xfrm>
            <a:custGeom>
              <a:avLst/>
              <a:gdLst/>
              <a:ahLst/>
              <a:cxnLst/>
              <a:rect r="r" b="b" t="t" l="l"/>
              <a:pathLst>
                <a:path h="42418" w="8025384">
                  <a:moveTo>
                    <a:pt x="0" y="0"/>
                  </a:moveTo>
                  <a:lnTo>
                    <a:pt x="8025384" y="0"/>
                  </a:lnTo>
                  <a:lnTo>
                    <a:pt x="8025384" y="42418"/>
                  </a:lnTo>
                  <a:lnTo>
                    <a:pt x="0" y="42418"/>
                  </a:ln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50821" y="3871913"/>
            <a:ext cx="2344493" cy="28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Масштабируемость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50821" y="4252617"/>
            <a:ext cx="6019057" cy="53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Архитектура позволяет легко добавлять новые функции и расширять географию покрытия без переработки базовой системы.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150821" y="5019685"/>
            <a:ext cx="6019057" cy="31852"/>
            <a:chOff x="0" y="0"/>
            <a:chExt cx="8025409" cy="424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25384" cy="42418"/>
            </a:xfrm>
            <a:custGeom>
              <a:avLst/>
              <a:gdLst/>
              <a:ahLst/>
              <a:cxnLst/>
              <a:rect r="r" b="b" t="t" l="l"/>
              <a:pathLst>
                <a:path h="42418" w="8025384">
                  <a:moveTo>
                    <a:pt x="0" y="0"/>
                  </a:moveTo>
                  <a:lnTo>
                    <a:pt x="8025384" y="0"/>
                  </a:lnTo>
                  <a:lnTo>
                    <a:pt x="8025384" y="42418"/>
                  </a:lnTo>
                  <a:lnTo>
                    <a:pt x="0" y="42418"/>
                  </a:ln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150821" y="5187553"/>
            <a:ext cx="2807046" cy="28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Кроссплатформенность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50821" y="5568258"/>
            <a:ext cx="6019057" cy="53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3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Доступность на различных устройствах и операционных системах обеспечивает широкий охват аудитории.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02469"/>
            <a:ext cx="10235508" cy="79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Итоги и перспективы развития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16459"/>
            <a:ext cx="16303523" cy="126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Разработанное приложение представляет собой полнофункциональное решение для поиска и выбора заведений общественного питания, объединяющее современные технологии, продуманный пользовательский интерфейс и актуальную базу данных ресторанов и кафе.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386290"/>
            <a:ext cx="247945" cy="38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855396"/>
            <a:ext cx="5269116" cy="28575"/>
            <a:chOff x="0" y="0"/>
            <a:chExt cx="7025488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25513" cy="38100"/>
            </a:xfrm>
            <a:custGeom>
              <a:avLst/>
              <a:gdLst/>
              <a:ahLst/>
              <a:cxnLst/>
              <a:rect r="r" b="b" t="t" l="l"/>
              <a:pathLst>
                <a:path h="38100" w="7025513">
                  <a:moveTo>
                    <a:pt x="0" y="0"/>
                  </a:moveTo>
                  <a:lnTo>
                    <a:pt x="7025513" y="0"/>
                  </a:lnTo>
                  <a:lnTo>
                    <a:pt x="70255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4036514"/>
            <a:ext cx="4102741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Достигнутые результаты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496838"/>
            <a:ext cx="5269116" cy="285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Создана работающая система с полным циклом функций: от поиска заведений до управления избранным и отзывами. Реализована гибкая архитектура с разделением ролей пользователей и административной панелью управления контентом.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09299" y="3386290"/>
            <a:ext cx="247945" cy="38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9299" y="3855396"/>
            <a:ext cx="5269259" cy="28575"/>
            <a:chOff x="0" y="0"/>
            <a:chExt cx="7025678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25640" cy="38100"/>
            </a:xfrm>
            <a:custGeom>
              <a:avLst/>
              <a:gdLst/>
              <a:ahLst/>
              <a:cxnLst/>
              <a:rect r="r" b="b" t="t" l="l"/>
              <a:pathLst>
                <a:path h="38100" w="7025640">
                  <a:moveTo>
                    <a:pt x="0" y="0"/>
                  </a:moveTo>
                  <a:lnTo>
                    <a:pt x="7025640" y="0"/>
                  </a:lnTo>
                  <a:lnTo>
                    <a:pt x="702564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509299" y="4036514"/>
            <a:ext cx="3610566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Технологическая база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09299" y="4496838"/>
            <a:ext cx="5269259" cy="325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Использование современного технологического стека обеспечивает стабильную работу приложения, быструю обработку запросов и безопасность пользовательских данных. Клиент-серверная архитектура позволяет масштабировать систему при росте аудитории.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26503" y="3386290"/>
            <a:ext cx="247945" cy="38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26503" y="3855396"/>
            <a:ext cx="5269116" cy="28575"/>
            <a:chOff x="0" y="0"/>
            <a:chExt cx="7025488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25513" cy="38100"/>
            </a:xfrm>
            <a:custGeom>
              <a:avLst/>
              <a:gdLst/>
              <a:ahLst/>
              <a:cxnLst/>
              <a:rect r="r" b="b" t="t" l="l"/>
              <a:pathLst>
                <a:path h="38100" w="7025513">
                  <a:moveTo>
                    <a:pt x="0" y="0"/>
                  </a:moveTo>
                  <a:lnTo>
                    <a:pt x="7025513" y="0"/>
                  </a:lnTo>
                  <a:lnTo>
                    <a:pt x="70255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26503" y="4036514"/>
            <a:ext cx="3101130" cy="38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Планы развития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26503" y="4496838"/>
            <a:ext cx="5269116" cy="285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Внедрение системы бронирования столиков, интеграция с программами лояльности заведений, добавление функции заказа еды на вынос, расширение базы заведений на другие города, внедрение машинного обучения для персональных рекомендаций.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4304" y="8416376"/>
            <a:ext cx="15931458" cy="8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Приложение готово к запуску и тестированию с реальными пользователями. Следующий этап — сбор обратной связи и итеративное улучшение функционала на основе данных об использовании.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8213522"/>
            <a:ext cx="28575" cy="1351959"/>
            <a:chOff x="0" y="0"/>
            <a:chExt cx="38100" cy="180261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" cy="1802638"/>
            </a:xfrm>
            <a:custGeom>
              <a:avLst/>
              <a:gdLst/>
              <a:ahLst/>
              <a:cxnLst/>
              <a:rect r="r" b="b" t="t" l="l"/>
              <a:pathLst>
                <a:path h="1802638" w="38100">
                  <a:moveTo>
                    <a:pt x="0" y="0"/>
                  </a:moveTo>
                  <a:lnTo>
                    <a:pt x="38100" y="0"/>
                  </a:lnTo>
                  <a:lnTo>
                    <a:pt x="38100" y="1802638"/>
                  </a:lnTo>
                  <a:lnTo>
                    <a:pt x="0" y="1802638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DAHA8guUBfk</dc:identifier>
  <dcterms:modified xsi:type="dcterms:W3CDTF">2011-08-01T06:04:30Z</dcterms:modified>
  <cp:revision>1</cp:revision>
  <dc:title>Prilozhenie-dlya-poiska-kafe-i-restoranov.pptx</dc:title>
</cp:coreProperties>
</file>